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8229600" cx="14630400"/>
  <p:notesSz cx="8229600" cy="14630400"/>
  <p:embeddedFontLst>
    <p:embeddedFont>
      <p:font typeface="Martel Sans"/>
      <p:regular r:id="rId15"/>
      <p:bold r:id="rId16"/>
    </p:embeddedFont>
    <p:embeddedFont>
      <p:font typeface="Kanit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Kanit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artelSans-regular.fntdata"/><Relationship Id="rId14" Type="http://schemas.openxmlformats.org/officeDocument/2006/relationships/slide" Target="slides/slide10.xml"/><Relationship Id="rId17" Type="http://schemas.openxmlformats.org/officeDocument/2006/relationships/font" Target="fonts/Kanit-regular.fntdata"/><Relationship Id="rId16" Type="http://schemas.openxmlformats.org/officeDocument/2006/relationships/font" Target="fonts/MartelSans-bold.fntdata"/><Relationship Id="rId5" Type="http://schemas.openxmlformats.org/officeDocument/2006/relationships/slide" Target="slides/slide1.xml"/><Relationship Id="rId19" Type="http://schemas.openxmlformats.org/officeDocument/2006/relationships/font" Target="fonts/Kanit-italic.fntdata"/><Relationship Id="rId6" Type="http://schemas.openxmlformats.org/officeDocument/2006/relationships/slide" Target="slides/slide2.xml"/><Relationship Id="rId18" Type="http://schemas.openxmlformats.org/officeDocument/2006/relationships/font" Target="fonts/Kanit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4" name="Google Shape;39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1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1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2.png"/><Relationship Id="rId6" Type="http://schemas.openxmlformats.org/officeDocument/2006/relationships/image" Target="../media/image2.png"/><Relationship Id="rId7" Type="http://schemas.openxmlformats.org/officeDocument/2006/relationships/image" Target="../media/image5.png"/><Relationship Id="rId8" Type="http://schemas.openxmlformats.org/officeDocument/2006/relationships/image" Target="../media/image2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3.png"/><Relationship Id="rId5" Type="http://schemas.openxmlformats.org/officeDocument/2006/relationships/image" Target="../media/image27.png"/><Relationship Id="rId6" Type="http://schemas.openxmlformats.org/officeDocument/2006/relationships/image" Target="../media/image26.png"/><Relationship Id="rId7" Type="http://schemas.openxmlformats.org/officeDocument/2006/relationships/image" Target="../media/image3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2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Relationship Id="rId4" Type="http://schemas.openxmlformats.org/officeDocument/2006/relationships/image" Target="../media/image3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2.png"/><Relationship Id="rId4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3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/>
          <p:nvPr/>
        </p:nvSpPr>
        <p:spPr>
          <a:xfrm>
            <a:off x="477350" y="3170625"/>
            <a:ext cx="137760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4450"/>
              <a:buFont typeface="Kanit"/>
              <a:buNone/>
            </a:pPr>
            <a:r>
              <a:rPr b="0" i="0" lang="en-US" sz="4350" u="none" cap="none" strike="noStrike">
                <a:solidFill>
                  <a:srgbClr val="272D45"/>
                </a:solidFill>
                <a:latin typeface="Kanit"/>
                <a:ea typeface="Kanit"/>
                <a:cs typeface="Kanit"/>
                <a:sym typeface="Kanit"/>
              </a:rPr>
              <a:t>WebScanPro: AI-Powered Vulnerability</a:t>
            </a:r>
            <a:r>
              <a:rPr lang="en-US" sz="4350">
                <a:solidFill>
                  <a:srgbClr val="272D45"/>
                </a:solidFill>
                <a:latin typeface="Kanit"/>
                <a:ea typeface="Kanit"/>
                <a:cs typeface="Kanit"/>
                <a:sym typeface="Kanit"/>
              </a:rPr>
              <a:t> </a:t>
            </a:r>
            <a:r>
              <a:rPr b="0" i="0" lang="en-US" sz="4350" u="none" cap="none" strike="noStrike">
                <a:solidFill>
                  <a:srgbClr val="272D45"/>
                </a:solidFill>
                <a:latin typeface="Kanit"/>
                <a:ea typeface="Kanit"/>
                <a:cs typeface="Kanit"/>
                <a:sym typeface="Kanit"/>
              </a:rPr>
              <a:t>Assessment</a:t>
            </a:r>
            <a:endParaRPr b="0" i="0" sz="4350" u="none" cap="none" strike="noStrike"/>
          </a:p>
        </p:txBody>
      </p:sp>
      <p:sp>
        <p:nvSpPr>
          <p:cNvPr id="57" name="Google Shape;57;p13"/>
          <p:cNvSpPr/>
          <p:nvPr/>
        </p:nvSpPr>
        <p:spPr>
          <a:xfrm>
            <a:off x="793790" y="4333042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A comprehensive automated security testing framework combining intelligent scanning with AI-driven analysis for modern web applications</a:t>
            </a:r>
            <a:endParaRPr b="0" i="0" sz="1750" u="none" cap="none" strike="noStrike"/>
          </a:p>
        </p:txBody>
      </p:sp>
      <p:sp>
        <p:nvSpPr>
          <p:cNvPr id="58" name="Google Shape;58;p13"/>
          <p:cNvSpPr txBox="1"/>
          <p:nvPr/>
        </p:nvSpPr>
        <p:spPr>
          <a:xfrm>
            <a:off x="12659675" y="7760999"/>
            <a:ext cx="1860300" cy="36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/>
          <p:nvPr/>
        </p:nvSpPr>
        <p:spPr>
          <a:xfrm>
            <a:off x="684490" y="541139"/>
            <a:ext cx="1043821" cy="367427"/>
          </a:xfrm>
          <a:prstGeom prst="roundRect">
            <a:avLst>
              <a:gd fmla="val 17887" name="adj"/>
            </a:avLst>
          </a:prstGeom>
          <a:solidFill>
            <a:srgbClr val="DFEC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5" name="Google Shape;6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1767" y="646628"/>
            <a:ext cx="156448" cy="156448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/>
          <p:nvPr/>
        </p:nvSpPr>
        <p:spPr>
          <a:xfrm>
            <a:off x="1036439" y="599718"/>
            <a:ext cx="574596" cy="2502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200"/>
              <a:buFont typeface="Martel Sans"/>
              <a:buNone/>
            </a:pPr>
            <a:r>
              <a:rPr b="0" i="0" lang="en-US" sz="12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WEEK 1</a:t>
            </a:r>
            <a:endParaRPr b="0" i="0" sz="1200" u="none" cap="none" strike="noStrike"/>
          </a:p>
        </p:txBody>
      </p:sp>
      <p:sp>
        <p:nvSpPr>
          <p:cNvPr id="67" name="Google Shape;67;p14"/>
          <p:cNvSpPr/>
          <p:nvPr/>
        </p:nvSpPr>
        <p:spPr>
          <a:xfrm>
            <a:off x="684502" y="988450"/>
            <a:ext cx="7148700" cy="6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675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3850"/>
              <a:buFont typeface="Kanit"/>
              <a:buNone/>
            </a:pPr>
            <a:r>
              <a:rPr b="0" i="0" lang="en-US" sz="3850" u="none" cap="none" strike="noStrike">
                <a:solidFill>
                  <a:srgbClr val="272D45"/>
                </a:solidFill>
                <a:latin typeface="Kanit"/>
                <a:ea typeface="Kanit"/>
                <a:cs typeface="Kanit"/>
                <a:sym typeface="Kanit"/>
              </a:rPr>
              <a:t>Docker Environment Setup</a:t>
            </a:r>
            <a:endParaRPr b="0" i="0" sz="3850" u="none" cap="none" strike="noStrike"/>
          </a:p>
        </p:txBody>
      </p:sp>
      <p:sp>
        <p:nvSpPr>
          <p:cNvPr id="68" name="Google Shape;68;p14"/>
          <p:cNvSpPr/>
          <p:nvPr/>
        </p:nvSpPr>
        <p:spPr>
          <a:xfrm>
            <a:off x="684490" y="2088475"/>
            <a:ext cx="2444948" cy="305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1900"/>
              <a:buFont typeface="Kanit"/>
              <a:buNone/>
            </a:pPr>
            <a:r>
              <a:rPr b="0" i="0" lang="en-US" sz="1900" u="none" cap="none" strike="noStrike">
                <a:solidFill>
                  <a:srgbClr val="272D45"/>
                </a:solidFill>
                <a:latin typeface="Kanit"/>
                <a:ea typeface="Kanit"/>
                <a:cs typeface="Kanit"/>
                <a:sym typeface="Kanit"/>
              </a:rPr>
              <a:t>System Requirements</a:t>
            </a:r>
            <a:endParaRPr b="0" i="0" sz="1900" u="none" cap="none" strike="noStrike"/>
          </a:p>
        </p:txBody>
      </p:sp>
      <p:sp>
        <p:nvSpPr>
          <p:cNvPr id="69" name="Google Shape;69;p14"/>
          <p:cNvSpPr/>
          <p:nvPr/>
        </p:nvSpPr>
        <p:spPr>
          <a:xfrm>
            <a:off x="684490" y="2589609"/>
            <a:ext cx="6392108" cy="312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500"/>
              <a:buFont typeface="Martel Sans"/>
              <a:buChar char="•"/>
            </a:pPr>
            <a:r>
              <a:rPr b="0" i="0" lang="en-US" sz="15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Windows 10/11 64-bit operating system</a:t>
            </a:r>
            <a:endParaRPr b="0" i="0" sz="1500" u="none" cap="none" strike="noStrike"/>
          </a:p>
        </p:txBody>
      </p:sp>
      <p:sp>
        <p:nvSpPr>
          <p:cNvPr id="70" name="Google Shape;70;p14"/>
          <p:cNvSpPr/>
          <p:nvPr/>
        </p:nvSpPr>
        <p:spPr>
          <a:xfrm>
            <a:off x="684490" y="2970848"/>
            <a:ext cx="6392108" cy="312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500"/>
              <a:buFont typeface="Martel Sans"/>
              <a:buChar char="•"/>
            </a:pPr>
            <a:r>
              <a:rPr b="0" i="0" lang="en-US" sz="15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Minimum 4GB RAM allocated</a:t>
            </a:r>
            <a:endParaRPr b="0" i="0" sz="1500" u="none" cap="none" strike="noStrike"/>
          </a:p>
        </p:txBody>
      </p:sp>
      <p:sp>
        <p:nvSpPr>
          <p:cNvPr id="71" name="Google Shape;71;p14"/>
          <p:cNvSpPr/>
          <p:nvPr/>
        </p:nvSpPr>
        <p:spPr>
          <a:xfrm>
            <a:off x="684490" y="3352086"/>
            <a:ext cx="6392108" cy="312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500"/>
              <a:buFont typeface="Martel Sans"/>
              <a:buChar char="•"/>
            </a:pPr>
            <a:r>
              <a:rPr b="0" i="0" lang="en-US" sz="15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Virtualisation enabled in BIOS</a:t>
            </a:r>
            <a:endParaRPr b="0" i="0" sz="1500" u="none" cap="none" strike="noStrike"/>
          </a:p>
        </p:txBody>
      </p:sp>
      <p:sp>
        <p:nvSpPr>
          <p:cNvPr id="72" name="Google Shape;72;p14"/>
          <p:cNvSpPr/>
          <p:nvPr/>
        </p:nvSpPr>
        <p:spPr>
          <a:xfrm>
            <a:off x="684490" y="3733324"/>
            <a:ext cx="6392108" cy="312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500"/>
              <a:buFont typeface="Martel Sans"/>
              <a:buChar char="•"/>
            </a:pPr>
            <a:r>
              <a:rPr b="0" i="0" lang="en-US" sz="15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WSL2 installed and updated</a:t>
            </a:r>
            <a:endParaRPr b="0" i="0" sz="1500" u="none" cap="none" strike="noStrike"/>
          </a:p>
        </p:txBody>
      </p:sp>
      <p:sp>
        <p:nvSpPr>
          <p:cNvPr id="73" name="Google Shape;73;p14"/>
          <p:cNvSpPr/>
          <p:nvPr/>
        </p:nvSpPr>
        <p:spPr>
          <a:xfrm>
            <a:off x="7561421" y="2088475"/>
            <a:ext cx="2444948" cy="305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1900"/>
              <a:buFont typeface="Kanit"/>
              <a:buNone/>
            </a:pPr>
            <a:r>
              <a:rPr b="0" i="0" lang="en-US" sz="1900" u="none" cap="none" strike="noStrike">
                <a:solidFill>
                  <a:srgbClr val="272D45"/>
                </a:solidFill>
                <a:latin typeface="Kanit"/>
                <a:ea typeface="Kanit"/>
                <a:cs typeface="Kanit"/>
                <a:sym typeface="Kanit"/>
              </a:rPr>
              <a:t>Installation Process</a:t>
            </a:r>
            <a:endParaRPr b="0" i="0" sz="1900" u="none" cap="none" strike="noStrike"/>
          </a:p>
        </p:txBody>
      </p:sp>
      <p:sp>
        <p:nvSpPr>
          <p:cNvPr id="74" name="Google Shape;74;p14"/>
          <p:cNvSpPr/>
          <p:nvPr/>
        </p:nvSpPr>
        <p:spPr>
          <a:xfrm>
            <a:off x="7561421" y="2589609"/>
            <a:ext cx="6392108" cy="312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500"/>
              <a:buFont typeface="Calibri"/>
              <a:buAutoNum type="arabicPeriod"/>
            </a:pPr>
            <a:r>
              <a:rPr b="0" i="0" lang="en-US" sz="15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Download Docker Desktop from official source</a:t>
            </a:r>
            <a:endParaRPr b="0" i="0" sz="1500" u="none" cap="none" strike="noStrike"/>
          </a:p>
        </p:txBody>
      </p:sp>
      <p:sp>
        <p:nvSpPr>
          <p:cNvPr id="75" name="Google Shape;75;p14"/>
          <p:cNvSpPr/>
          <p:nvPr/>
        </p:nvSpPr>
        <p:spPr>
          <a:xfrm>
            <a:off x="7561421" y="2970848"/>
            <a:ext cx="6392108" cy="312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500"/>
              <a:buFont typeface="Calibri"/>
              <a:buAutoNum type="arabicPeriod" startAt="2"/>
            </a:pPr>
            <a:r>
              <a:rPr b="0" i="0" lang="en-US" sz="15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Execute installer with administrator privileges</a:t>
            </a:r>
            <a:endParaRPr b="0" i="0" sz="1500" u="none" cap="none" strike="noStrike"/>
          </a:p>
        </p:txBody>
      </p:sp>
      <p:sp>
        <p:nvSpPr>
          <p:cNvPr id="76" name="Google Shape;76;p14"/>
          <p:cNvSpPr/>
          <p:nvPr/>
        </p:nvSpPr>
        <p:spPr>
          <a:xfrm>
            <a:off x="7561421" y="3352086"/>
            <a:ext cx="6392108" cy="312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500"/>
              <a:buFont typeface="Calibri"/>
              <a:buAutoNum type="arabicPeriod" startAt="3"/>
            </a:pPr>
            <a:r>
              <a:rPr b="0" i="0" lang="en-US" sz="15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Restart system to complete setup</a:t>
            </a:r>
            <a:endParaRPr b="0" i="0" sz="1500" u="none" cap="none" strike="noStrike"/>
          </a:p>
        </p:txBody>
      </p:sp>
      <p:sp>
        <p:nvSpPr>
          <p:cNvPr id="77" name="Google Shape;77;p14"/>
          <p:cNvSpPr/>
          <p:nvPr/>
        </p:nvSpPr>
        <p:spPr>
          <a:xfrm>
            <a:off x="7561421" y="3733324"/>
            <a:ext cx="6392108" cy="3357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500"/>
              <a:buFont typeface="Martel Sans"/>
              <a:buNone/>
            </a:pPr>
            <a:r>
              <a:rPr b="0" i="0" lang="en-US" sz="15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Verify installation using </a:t>
            </a:r>
            <a:r>
              <a:rPr b="0" i="0" lang="en-US" sz="1500" u="none" cap="none" strike="noStrike">
                <a:solidFill>
                  <a:srgbClr val="2C32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docker --version</a:t>
            </a:r>
            <a:endParaRPr b="0" i="0" sz="1500" u="none" cap="none" strike="noStrike"/>
          </a:p>
        </p:txBody>
      </p:sp>
      <p:sp>
        <p:nvSpPr>
          <p:cNvPr id="78" name="Google Shape;78;p14"/>
          <p:cNvSpPr/>
          <p:nvPr/>
        </p:nvSpPr>
        <p:spPr>
          <a:xfrm>
            <a:off x="684502" y="4430800"/>
            <a:ext cx="43725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1900"/>
              <a:buFont typeface="Kanit"/>
              <a:buNone/>
            </a:pPr>
            <a:r>
              <a:rPr b="0" i="0" lang="en-US" sz="1900" u="none" cap="none" strike="noStrike">
                <a:solidFill>
                  <a:srgbClr val="272D45"/>
                </a:solidFill>
                <a:latin typeface="Kanit"/>
                <a:ea typeface="Kanit"/>
                <a:cs typeface="Kanit"/>
                <a:sym typeface="Kanit"/>
              </a:rPr>
              <a:t>Vulnerable Applications Deployed</a:t>
            </a:r>
            <a:endParaRPr b="0" i="0" sz="1900" u="none" cap="none" strike="noStrike"/>
          </a:p>
        </p:txBody>
      </p:sp>
      <p:sp>
        <p:nvSpPr>
          <p:cNvPr id="79" name="Google Shape;79;p14"/>
          <p:cNvSpPr/>
          <p:nvPr/>
        </p:nvSpPr>
        <p:spPr>
          <a:xfrm>
            <a:off x="684490" y="5029795"/>
            <a:ext cx="4290060" cy="2658666"/>
          </a:xfrm>
          <a:prstGeom prst="roundRect">
            <a:avLst>
              <a:gd fmla="val 3090" name="adj"/>
            </a:avLst>
          </a:prstGeom>
          <a:solidFill>
            <a:srgbClr val="FFFFFF"/>
          </a:solidFill>
          <a:ln cap="flat" cmpd="sng" w="22850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4"/>
          <p:cNvSpPr/>
          <p:nvPr/>
        </p:nvSpPr>
        <p:spPr>
          <a:xfrm>
            <a:off x="902851" y="5248156"/>
            <a:ext cx="2444948" cy="305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900"/>
              <a:buFont typeface="Kanit"/>
              <a:buNone/>
            </a:pPr>
            <a:r>
              <a:rPr b="0" i="0" lang="en-US" sz="190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DVWA</a:t>
            </a:r>
            <a:endParaRPr b="0" i="0" sz="1900" u="none" cap="none" strike="noStrike"/>
          </a:p>
        </p:txBody>
      </p:sp>
      <p:sp>
        <p:nvSpPr>
          <p:cNvPr id="81" name="Google Shape;81;p14"/>
          <p:cNvSpPr/>
          <p:nvPr/>
        </p:nvSpPr>
        <p:spPr>
          <a:xfrm>
            <a:off x="902851" y="5671066"/>
            <a:ext cx="3853339" cy="312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500"/>
              <a:buFont typeface="Martel Sans"/>
              <a:buNone/>
            </a:pPr>
            <a:r>
              <a:rPr b="1" i="0" lang="en-US" sz="15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Port:</a:t>
            </a:r>
            <a:r>
              <a:rPr b="0" i="0" lang="en-US" sz="15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 80</a:t>
            </a:r>
            <a:endParaRPr b="0" i="0" sz="1500" u="none" cap="none" strike="noStrike"/>
          </a:p>
        </p:txBody>
      </p:sp>
      <p:sp>
        <p:nvSpPr>
          <p:cNvPr id="82" name="Google Shape;82;p14"/>
          <p:cNvSpPr/>
          <p:nvPr/>
        </p:nvSpPr>
        <p:spPr>
          <a:xfrm>
            <a:off x="902851" y="6101239"/>
            <a:ext cx="3853339" cy="312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500"/>
              <a:buFont typeface="Martel Sans"/>
              <a:buNone/>
            </a:pPr>
            <a:r>
              <a:rPr b="1" i="0" lang="en-US" sz="15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Login:</a:t>
            </a:r>
            <a:r>
              <a:rPr b="0" i="0" lang="en-US" sz="15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 admin/password</a:t>
            </a:r>
            <a:endParaRPr b="0" i="0" sz="1500" u="none" cap="none" strike="noStrike"/>
          </a:p>
        </p:txBody>
      </p:sp>
      <p:sp>
        <p:nvSpPr>
          <p:cNvPr id="83" name="Google Shape;83;p14"/>
          <p:cNvSpPr/>
          <p:nvPr/>
        </p:nvSpPr>
        <p:spPr>
          <a:xfrm>
            <a:off x="902851" y="6531412"/>
            <a:ext cx="3853339" cy="9386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500"/>
              <a:buFont typeface="Martel Sans"/>
              <a:buNone/>
            </a:pPr>
            <a:r>
              <a:rPr b="0" i="0" lang="en-US" sz="15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Classic PHP-based vulnerable web application for testing SQL injection and XSS attacks</a:t>
            </a:r>
            <a:endParaRPr b="0" i="0" sz="1500" u="none" cap="none" strike="noStrike"/>
          </a:p>
        </p:txBody>
      </p:sp>
      <p:sp>
        <p:nvSpPr>
          <p:cNvPr id="84" name="Google Shape;84;p14"/>
          <p:cNvSpPr/>
          <p:nvPr/>
        </p:nvSpPr>
        <p:spPr>
          <a:xfrm>
            <a:off x="5170051" y="5029795"/>
            <a:ext cx="4290179" cy="2658666"/>
          </a:xfrm>
          <a:prstGeom prst="roundRect">
            <a:avLst>
              <a:gd fmla="val 3090" name="adj"/>
            </a:avLst>
          </a:prstGeom>
          <a:solidFill>
            <a:srgbClr val="FFFFFF"/>
          </a:solidFill>
          <a:ln cap="flat" cmpd="sng" w="22850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4"/>
          <p:cNvSpPr/>
          <p:nvPr/>
        </p:nvSpPr>
        <p:spPr>
          <a:xfrm>
            <a:off x="5388412" y="5248156"/>
            <a:ext cx="2444948" cy="305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900"/>
              <a:buFont typeface="Kanit"/>
              <a:buNone/>
            </a:pPr>
            <a:r>
              <a:rPr b="0" i="0" lang="en-US" sz="190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bWAPP</a:t>
            </a:r>
            <a:endParaRPr b="0" i="0" sz="1900" u="none" cap="none" strike="noStrike"/>
          </a:p>
        </p:txBody>
      </p:sp>
      <p:sp>
        <p:nvSpPr>
          <p:cNvPr id="86" name="Google Shape;86;p14"/>
          <p:cNvSpPr/>
          <p:nvPr/>
        </p:nvSpPr>
        <p:spPr>
          <a:xfrm>
            <a:off x="5388412" y="5671066"/>
            <a:ext cx="3853458" cy="312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500"/>
              <a:buFont typeface="Martel Sans"/>
              <a:buNone/>
            </a:pPr>
            <a:r>
              <a:rPr b="1" i="0" lang="en-US" sz="15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Port:</a:t>
            </a:r>
            <a:r>
              <a:rPr b="0" i="0" lang="en-US" sz="15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 8080</a:t>
            </a:r>
            <a:endParaRPr b="0" i="0" sz="1500" u="none" cap="none" strike="noStrike"/>
          </a:p>
        </p:txBody>
      </p:sp>
      <p:sp>
        <p:nvSpPr>
          <p:cNvPr id="87" name="Google Shape;87;p14"/>
          <p:cNvSpPr/>
          <p:nvPr/>
        </p:nvSpPr>
        <p:spPr>
          <a:xfrm>
            <a:off x="5388412" y="6101239"/>
            <a:ext cx="3853458" cy="9386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500"/>
              <a:buFont typeface="Martel Sans"/>
              <a:buNone/>
            </a:pPr>
            <a:r>
              <a:rPr b="0" i="0" lang="en-US" sz="15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Comprehensive buggy web application with over 100 vulnerabilities across multiple categories</a:t>
            </a:r>
            <a:endParaRPr b="0" i="0" sz="1500" u="none" cap="none" strike="noStrike"/>
          </a:p>
        </p:txBody>
      </p:sp>
      <p:sp>
        <p:nvSpPr>
          <p:cNvPr id="88" name="Google Shape;88;p14"/>
          <p:cNvSpPr/>
          <p:nvPr/>
        </p:nvSpPr>
        <p:spPr>
          <a:xfrm>
            <a:off x="9655731" y="5029795"/>
            <a:ext cx="4290179" cy="2658666"/>
          </a:xfrm>
          <a:prstGeom prst="roundRect">
            <a:avLst>
              <a:gd fmla="val 3090" name="adj"/>
            </a:avLst>
          </a:prstGeom>
          <a:solidFill>
            <a:srgbClr val="FFFFFF"/>
          </a:solidFill>
          <a:ln cap="flat" cmpd="sng" w="22850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4"/>
          <p:cNvSpPr/>
          <p:nvPr/>
        </p:nvSpPr>
        <p:spPr>
          <a:xfrm>
            <a:off x="9874091" y="5248156"/>
            <a:ext cx="2444948" cy="305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900"/>
              <a:buFont typeface="Kanit"/>
              <a:buNone/>
            </a:pPr>
            <a:r>
              <a:rPr b="0" i="0" lang="en-US" sz="190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Juice Shop</a:t>
            </a:r>
            <a:endParaRPr b="0" i="0" sz="1900" u="none" cap="none" strike="noStrike"/>
          </a:p>
        </p:txBody>
      </p:sp>
      <p:sp>
        <p:nvSpPr>
          <p:cNvPr id="90" name="Google Shape;90;p14"/>
          <p:cNvSpPr/>
          <p:nvPr/>
        </p:nvSpPr>
        <p:spPr>
          <a:xfrm>
            <a:off x="9874091" y="5671066"/>
            <a:ext cx="3853458" cy="312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500"/>
              <a:buFont typeface="Martel Sans"/>
              <a:buNone/>
            </a:pPr>
            <a:r>
              <a:rPr b="1" i="0" lang="en-US" sz="15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Port:</a:t>
            </a:r>
            <a:r>
              <a:rPr b="0" i="0" lang="en-US" sz="15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 3000</a:t>
            </a:r>
            <a:endParaRPr b="0" i="0" sz="1500" u="none" cap="none" strike="noStrike"/>
          </a:p>
        </p:txBody>
      </p:sp>
      <p:sp>
        <p:nvSpPr>
          <p:cNvPr id="91" name="Google Shape;91;p14"/>
          <p:cNvSpPr/>
          <p:nvPr/>
        </p:nvSpPr>
        <p:spPr>
          <a:xfrm>
            <a:off x="9874091" y="6101239"/>
            <a:ext cx="3853458" cy="6257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500"/>
              <a:buFont typeface="Martel Sans"/>
              <a:buNone/>
            </a:pPr>
            <a:r>
              <a:rPr b="0" i="0" lang="en-US" sz="15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Modern JavaScript application simulating real-world e-commerce security flaws</a:t>
            </a:r>
            <a:endParaRPr b="0" i="0" sz="1500" u="none" cap="none" strike="noStrike"/>
          </a:p>
        </p:txBody>
      </p:sp>
      <p:sp>
        <p:nvSpPr>
          <p:cNvPr id="92" name="Google Shape;92;p14"/>
          <p:cNvSpPr txBox="1"/>
          <p:nvPr/>
        </p:nvSpPr>
        <p:spPr>
          <a:xfrm>
            <a:off x="12659675" y="7760999"/>
            <a:ext cx="1860300" cy="36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/>
          <p:nvPr/>
        </p:nvSpPr>
        <p:spPr>
          <a:xfrm>
            <a:off x="451950" y="459825"/>
            <a:ext cx="1049100" cy="229500"/>
          </a:xfrm>
          <a:prstGeom prst="roundRect">
            <a:avLst>
              <a:gd fmla="val 17883" name="adj"/>
            </a:avLst>
          </a:prstGeom>
          <a:solidFill>
            <a:srgbClr val="DFEC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9" name="Google Shape;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9352" y="529471"/>
            <a:ext cx="103227" cy="103227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/>
          <p:nvPr/>
        </p:nvSpPr>
        <p:spPr>
          <a:xfrm>
            <a:off x="684125" y="503425"/>
            <a:ext cx="816900" cy="2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800"/>
              <a:buFont typeface="Martel Sans"/>
              <a:buNone/>
            </a:pPr>
            <a:r>
              <a:rPr b="0" i="0" lang="en-US" sz="11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WEEK  </a:t>
            </a:r>
            <a:r>
              <a:rPr lang="en-US" sz="1100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 2</a:t>
            </a:r>
            <a:endParaRPr b="0" i="0" sz="1100" u="none" cap="none" strike="noStrike"/>
          </a:p>
        </p:txBody>
      </p:sp>
      <p:sp>
        <p:nvSpPr>
          <p:cNvPr id="101" name="Google Shape;101;p15"/>
          <p:cNvSpPr/>
          <p:nvPr/>
        </p:nvSpPr>
        <p:spPr>
          <a:xfrm>
            <a:off x="451945" y="761400"/>
            <a:ext cx="7852800" cy="4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2500"/>
              <a:buFont typeface="Kanit"/>
              <a:buNone/>
            </a:pPr>
            <a:r>
              <a:rPr b="0" i="0" lang="en-US" sz="2500" u="none" cap="none" strike="noStrike">
                <a:solidFill>
                  <a:srgbClr val="272D45"/>
                </a:solidFill>
                <a:latin typeface="Kanit"/>
                <a:ea typeface="Kanit"/>
                <a:cs typeface="Kanit"/>
                <a:sym typeface="Kanit"/>
              </a:rPr>
              <a:t>Target Scanning Module Development</a:t>
            </a:r>
            <a:endParaRPr b="0" i="0" sz="2500" u="none" cap="none" strike="noStrike"/>
          </a:p>
        </p:txBody>
      </p:sp>
      <p:sp>
        <p:nvSpPr>
          <p:cNvPr id="102" name="Google Shape;102;p15"/>
          <p:cNvSpPr/>
          <p:nvPr/>
        </p:nvSpPr>
        <p:spPr>
          <a:xfrm>
            <a:off x="451961" y="1358741"/>
            <a:ext cx="13726477" cy="2066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000"/>
              <a:buFont typeface="Martel Sans"/>
              <a:buNone/>
            </a:pPr>
            <a:r>
              <a:rPr b="0" i="0" lang="en-US" sz="10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Developed intelligent reconnaissance capabilities to map attack surfaces across static and dynamic web applications, forming the intelligence foundation for automated security testing.</a:t>
            </a:r>
            <a:endParaRPr b="0" i="0" sz="1000" u="none" cap="none" strike="noStrike"/>
          </a:p>
        </p:txBody>
      </p:sp>
      <p:pic>
        <p:nvPicPr>
          <p:cNvPr descr="preencoded.png" id="103" name="Google Shape;10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1961" y="1710690"/>
            <a:ext cx="6863239" cy="516493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/>
          <p:nvPr/>
        </p:nvSpPr>
        <p:spPr>
          <a:xfrm>
            <a:off x="581025" y="2356247"/>
            <a:ext cx="1614249" cy="201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250"/>
              <a:buFont typeface="Kanit"/>
              <a:buNone/>
            </a:pPr>
            <a:r>
              <a:rPr b="0" i="0" lang="en-US" sz="125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Page Discovery</a:t>
            </a:r>
            <a:endParaRPr b="0" i="0" sz="1250" u="none" cap="none" strike="noStrike"/>
          </a:p>
        </p:txBody>
      </p:sp>
      <p:sp>
        <p:nvSpPr>
          <p:cNvPr id="105" name="Google Shape;105;p15"/>
          <p:cNvSpPr/>
          <p:nvPr/>
        </p:nvSpPr>
        <p:spPr>
          <a:xfrm>
            <a:off x="581025" y="2635448"/>
            <a:ext cx="6605111" cy="2066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000"/>
              <a:buFont typeface="Martel Sans"/>
              <a:buNone/>
            </a:pPr>
            <a:r>
              <a:rPr b="0" i="0" lang="en-US" sz="10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Automated traversal of web application structure to enumerate all accessible endpoints</a:t>
            </a:r>
            <a:endParaRPr b="0" i="0" sz="1000" u="none" cap="none" strike="noStrike"/>
          </a:p>
        </p:txBody>
      </p:sp>
      <p:pic>
        <p:nvPicPr>
          <p:cNvPr descr="preencoded.png" id="106" name="Google Shape;10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15200" y="1710690"/>
            <a:ext cx="6863239" cy="516493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/>
          <p:nvPr/>
        </p:nvSpPr>
        <p:spPr>
          <a:xfrm>
            <a:off x="7444264" y="2356247"/>
            <a:ext cx="1614249" cy="201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250"/>
              <a:buFont typeface="Kanit"/>
              <a:buNone/>
            </a:pPr>
            <a:r>
              <a:rPr b="0" i="0" lang="en-US" sz="125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Link Extraction</a:t>
            </a:r>
            <a:endParaRPr b="0" i="0" sz="1250" u="none" cap="none" strike="noStrike"/>
          </a:p>
        </p:txBody>
      </p:sp>
      <p:sp>
        <p:nvSpPr>
          <p:cNvPr id="108" name="Google Shape;108;p15"/>
          <p:cNvSpPr/>
          <p:nvPr/>
        </p:nvSpPr>
        <p:spPr>
          <a:xfrm>
            <a:off x="7444264" y="2635448"/>
            <a:ext cx="6605111" cy="2066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000"/>
              <a:buFont typeface="Martel Sans"/>
              <a:buNone/>
            </a:pPr>
            <a:r>
              <a:rPr b="0" i="0" lang="en-US" sz="10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Identification and cataloguing of internal navigation paths and relationships</a:t>
            </a:r>
            <a:endParaRPr b="0" i="0" sz="1000" u="none" cap="none" strike="noStrike"/>
          </a:p>
        </p:txBody>
      </p:sp>
      <p:pic>
        <p:nvPicPr>
          <p:cNvPr descr="preencoded.png" id="109" name="Google Shape;10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1961" y="2971205"/>
            <a:ext cx="6863237" cy="516493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/>
          <p:nvPr/>
        </p:nvSpPr>
        <p:spPr>
          <a:xfrm>
            <a:off x="581025" y="3616762"/>
            <a:ext cx="1614249" cy="201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250"/>
              <a:buFont typeface="Kanit"/>
              <a:buNone/>
            </a:pPr>
            <a:r>
              <a:rPr b="0" i="0" lang="en-US" sz="125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Form Detection</a:t>
            </a:r>
            <a:endParaRPr b="0" i="0" sz="1250" u="none" cap="none" strike="noStrike"/>
          </a:p>
        </p:txBody>
      </p:sp>
      <p:sp>
        <p:nvSpPr>
          <p:cNvPr id="111" name="Google Shape;111;p15"/>
          <p:cNvSpPr/>
          <p:nvPr/>
        </p:nvSpPr>
        <p:spPr>
          <a:xfrm>
            <a:off x="581025" y="3895963"/>
            <a:ext cx="6605111" cy="2066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000"/>
              <a:buFont typeface="Martel Sans"/>
              <a:buNone/>
            </a:pPr>
            <a:r>
              <a:rPr b="0" i="0" lang="en-US" sz="10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Location and analysis of interactive elements including input fields and parameters</a:t>
            </a:r>
            <a:endParaRPr b="0" i="0" sz="1000" u="none" cap="none" strike="noStrike"/>
          </a:p>
        </p:txBody>
      </p:sp>
      <p:pic>
        <p:nvPicPr>
          <p:cNvPr descr="preencoded.png" id="112" name="Google Shape;11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15200" y="2971205"/>
            <a:ext cx="6863239" cy="516493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/>
          <p:nvPr/>
        </p:nvSpPr>
        <p:spPr>
          <a:xfrm>
            <a:off x="7444264" y="3616762"/>
            <a:ext cx="1614249" cy="201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250"/>
              <a:buFont typeface="Kanit"/>
              <a:buNone/>
            </a:pPr>
            <a:r>
              <a:rPr b="0" i="0" lang="en-US" sz="125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Metadata Collection</a:t>
            </a:r>
            <a:endParaRPr b="0" i="0" sz="1250" u="none" cap="none" strike="noStrike"/>
          </a:p>
        </p:txBody>
      </p:sp>
      <p:sp>
        <p:nvSpPr>
          <p:cNvPr id="114" name="Google Shape;114;p15"/>
          <p:cNvSpPr/>
          <p:nvPr/>
        </p:nvSpPr>
        <p:spPr>
          <a:xfrm>
            <a:off x="7444264" y="3895963"/>
            <a:ext cx="6605111" cy="2066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000"/>
              <a:buFont typeface="Martel Sans"/>
              <a:buNone/>
            </a:pPr>
            <a:r>
              <a:rPr b="0" i="0" lang="en-US" sz="10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Structured data aggregation enabling targeted vulnerability assessment</a:t>
            </a:r>
            <a:endParaRPr b="0" i="0" sz="1000" u="none" cap="none" strike="noStrike"/>
          </a:p>
        </p:txBody>
      </p:sp>
      <p:sp>
        <p:nvSpPr>
          <p:cNvPr id="115" name="Google Shape;115;p15"/>
          <p:cNvSpPr/>
          <p:nvPr/>
        </p:nvSpPr>
        <p:spPr>
          <a:xfrm>
            <a:off x="451961" y="4441528"/>
            <a:ext cx="13726477" cy="23693"/>
          </a:xfrm>
          <a:prstGeom prst="rect">
            <a:avLst/>
          </a:prstGeom>
          <a:solidFill>
            <a:srgbClr val="2C3249">
              <a:alpha val="4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451945" y="4658923"/>
            <a:ext cx="3223800" cy="2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1500"/>
              <a:buFont typeface="Kanit"/>
              <a:buNone/>
            </a:pPr>
            <a:r>
              <a:rPr b="0" i="0" lang="en-US" sz="1500" u="none" cap="none" strike="noStrike">
                <a:solidFill>
                  <a:srgbClr val="272D45"/>
                </a:solidFill>
                <a:latin typeface="Kanit"/>
                <a:ea typeface="Kanit"/>
                <a:cs typeface="Kanit"/>
                <a:sym typeface="Kanit"/>
              </a:rPr>
              <a:t>Dual Crawler Architecture</a:t>
            </a:r>
            <a:endParaRPr b="0" i="0" sz="1500" u="none" cap="none" strike="noStrike"/>
          </a:p>
        </p:txBody>
      </p:sp>
      <p:sp>
        <p:nvSpPr>
          <p:cNvPr id="117" name="Google Shape;117;p15"/>
          <p:cNvSpPr/>
          <p:nvPr/>
        </p:nvSpPr>
        <p:spPr>
          <a:xfrm>
            <a:off x="451961" y="5223748"/>
            <a:ext cx="1614249" cy="201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1250"/>
              <a:buFont typeface="Kanit"/>
              <a:buNone/>
            </a:pPr>
            <a:r>
              <a:rPr b="0" i="0" lang="en-US" sz="1250" u="none" cap="none" strike="noStrike">
                <a:solidFill>
                  <a:srgbClr val="272D45"/>
                </a:solidFill>
                <a:latin typeface="Kanit"/>
                <a:ea typeface="Kanit"/>
                <a:cs typeface="Kanit"/>
                <a:sym typeface="Kanit"/>
              </a:rPr>
              <a:t>BeautifulSoup Crawler</a:t>
            </a:r>
            <a:endParaRPr b="0" i="0" sz="1250" u="none" cap="none" strike="noStrike"/>
          </a:p>
        </p:txBody>
      </p:sp>
      <p:sp>
        <p:nvSpPr>
          <p:cNvPr id="118" name="Google Shape;118;p15"/>
          <p:cNvSpPr/>
          <p:nvPr/>
        </p:nvSpPr>
        <p:spPr>
          <a:xfrm>
            <a:off x="451961" y="5554623"/>
            <a:ext cx="6705719" cy="2066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000"/>
              <a:buFont typeface="Martel Sans"/>
              <a:buNone/>
            </a:pPr>
            <a:r>
              <a:rPr b="1" i="0" lang="en-US" sz="10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Purpose:</a:t>
            </a:r>
            <a:r>
              <a:rPr b="0" i="0" lang="en-US" sz="10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 Static HTML analysis</a:t>
            </a:r>
            <a:endParaRPr b="0" i="0" sz="1000" u="none" cap="none" strike="noStrike"/>
          </a:p>
        </p:txBody>
      </p:sp>
      <p:sp>
        <p:nvSpPr>
          <p:cNvPr id="119" name="Google Shape;119;p15"/>
          <p:cNvSpPr/>
          <p:nvPr/>
        </p:nvSpPr>
        <p:spPr>
          <a:xfrm>
            <a:off x="451961" y="5877520"/>
            <a:ext cx="6705719" cy="2066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000"/>
              <a:buFont typeface="Martel Sans"/>
              <a:buNone/>
            </a:pPr>
            <a:r>
              <a:rPr b="1" i="0" lang="en-US" sz="10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Technology:</a:t>
            </a:r>
            <a:r>
              <a:rPr b="0" i="0" lang="en-US" sz="10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 Requests library + BS4 parser</a:t>
            </a:r>
            <a:endParaRPr b="0" i="0" sz="1000" u="none" cap="none" strike="noStrike"/>
          </a:p>
        </p:txBody>
      </p:sp>
      <p:sp>
        <p:nvSpPr>
          <p:cNvPr id="120" name="Google Shape;120;p15"/>
          <p:cNvSpPr/>
          <p:nvPr/>
        </p:nvSpPr>
        <p:spPr>
          <a:xfrm>
            <a:off x="451961" y="6200418"/>
            <a:ext cx="6705719" cy="2066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000"/>
              <a:buFont typeface="Martel Sans"/>
              <a:buNone/>
            </a:pPr>
            <a:r>
              <a:rPr b="1" i="0" lang="en-US" sz="10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Target applications:</a:t>
            </a:r>
            <a:r>
              <a:rPr b="0" i="0" lang="en-US" sz="10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 DVWA and bWAPP</a:t>
            </a:r>
            <a:endParaRPr b="0" i="0" sz="1000" u="none" cap="none" strike="noStrike"/>
          </a:p>
        </p:txBody>
      </p:sp>
      <p:sp>
        <p:nvSpPr>
          <p:cNvPr id="121" name="Google Shape;121;p15"/>
          <p:cNvSpPr/>
          <p:nvPr/>
        </p:nvSpPr>
        <p:spPr>
          <a:xfrm>
            <a:off x="451961" y="6523315"/>
            <a:ext cx="6705719" cy="413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000"/>
              <a:buFont typeface="Martel Sans"/>
              <a:buNone/>
            </a:pPr>
            <a:r>
              <a:rPr b="0" i="0" lang="en-US" sz="10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Efficient parsing of server-rendered content using controlled breadth-first search traversal to prevent infinite crawling loops.</a:t>
            </a:r>
            <a:endParaRPr b="0" i="0" sz="1000" u="none" cap="none" strike="noStrike"/>
          </a:p>
        </p:txBody>
      </p:sp>
      <p:sp>
        <p:nvSpPr>
          <p:cNvPr id="122" name="Google Shape;122;p15"/>
          <p:cNvSpPr/>
          <p:nvPr/>
        </p:nvSpPr>
        <p:spPr>
          <a:xfrm>
            <a:off x="7480340" y="5223748"/>
            <a:ext cx="1614249" cy="201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1250"/>
              <a:buFont typeface="Kanit"/>
              <a:buNone/>
            </a:pPr>
            <a:r>
              <a:rPr b="0" i="0" lang="en-US" sz="1250" u="none" cap="none" strike="noStrike">
                <a:solidFill>
                  <a:srgbClr val="272D45"/>
                </a:solidFill>
                <a:latin typeface="Kanit"/>
                <a:ea typeface="Kanit"/>
                <a:cs typeface="Kanit"/>
                <a:sym typeface="Kanit"/>
              </a:rPr>
              <a:t>Selenium Crawler</a:t>
            </a:r>
            <a:endParaRPr b="0" i="0" sz="1250" u="none" cap="none" strike="noStrike"/>
          </a:p>
        </p:txBody>
      </p:sp>
      <p:sp>
        <p:nvSpPr>
          <p:cNvPr id="123" name="Google Shape;123;p15"/>
          <p:cNvSpPr/>
          <p:nvPr/>
        </p:nvSpPr>
        <p:spPr>
          <a:xfrm>
            <a:off x="7480340" y="5554623"/>
            <a:ext cx="6705719" cy="2066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000"/>
              <a:buFont typeface="Martel Sans"/>
              <a:buNone/>
            </a:pPr>
            <a:r>
              <a:rPr b="1" i="0" lang="en-US" sz="10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Purpose:</a:t>
            </a:r>
            <a:r>
              <a:rPr b="0" i="0" lang="en-US" sz="10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 Dynamic JavaScript rendering</a:t>
            </a:r>
            <a:endParaRPr b="0" i="0" sz="1000" u="none" cap="none" strike="noStrike"/>
          </a:p>
        </p:txBody>
      </p:sp>
      <p:sp>
        <p:nvSpPr>
          <p:cNvPr id="124" name="Google Shape;124;p15"/>
          <p:cNvSpPr/>
          <p:nvPr/>
        </p:nvSpPr>
        <p:spPr>
          <a:xfrm>
            <a:off x="7480340" y="5877520"/>
            <a:ext cx="6705719" cy="2066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000"/>
              <a:buFont typeface="Martel Sans"/>
              <a:buNone/>
            </a:pPr>
            <a:r>
              <a:rPr b="1" i="0" lang="en-US" sz="10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Technology:</a:t>
            </a:r>
            <a:r>
              <a:rPr b="0" i="0" lang="en-US" sz="10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 Headless Chrome automation</a:t>
            </a:r>
            <a:endParaRPr b="0" i="0" sz="1000" u="none" cap="none" strike="noStrike"/>
          </a:p>
        </p:txBody>
      </p:sp>
      <p:sp>
        <p:nvSpPr>
          <p:cNvPr id="125" name="Google Shape;125;p15"/>
          <p:cNvSpPr/>
          <p:nvPr/>
        </p:nvSpPr>
        <p:spPr>
          <a:xfrm>
            <a:off x="7480340" y="6200418"/>
            <a:ext cx="6705719" cy="2066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000"/>
              <a:buFont typeface="Martel Sans"/>
              <a:buNone/>
            </a:pPr>
            <a:r>
              <a:rPr b="1" i="0" lang="en-US" sz="10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Target application:</a:t>
            </a:r>
            <a:r>
              <a:rPr b="0" i="0" lang="en-US" sz="10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 OWASP Juice Shop</a:t>
            </a:r>
            <a:endParaRPr b="0" i="0" sz="1000" u="none" cap="none" strike="noStrike"/>
          </a:p>
        </p:txBody>
      </p:sp>
      <p:sp>
        <p:nvSpPr>
          <p:cNvPr id="126" name="Google Shape;126;p15"/>
          <p:cNvSpPr/>
          <p:nvPr/>
        </p:nvSpPr>
        <p:spPr>
          <a:xfrm>
            <a:off x="7480340" y="6523315"/>
            <a:ext cx="6705719" cy="413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000"/>
              <a:buFont typeface="Martel Sans"/>
              <a:buNone/>
            </a:pPr>
            <a:r>
              <a:rPr b="0" i="0" lang="en-US" sz="10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Browser-based execution capturing elements loaded asynchronously through client-side scripts, essential for modern SPAs.</a:t>
            </a:r>
            <a:endParaRPr b="0" i="0" sz="1000" u="none" cap="none" strike="noStrike"/>
          </a:p>
        </p:txBody>
      </p:sp>
      <p:sp>
        <p:nvSpPr>
          <p:cNvPr id="127" name="Google Shape;127;p15"/>
          <p:cNvSpPr/>
          <p:nvPr/>
        </p:nvSpPr>
        <p:spPr>
          <a:xfrm>
            <a:off x="451961" y="7198162"/>
            <a:ext cx="13726477" cy="571619"/>
          </a:xfrm>
          <a:prstGeom prst="roundRect">
            <a:avLst>
              <a:gd fmla="val 9489" name="adj"/>
            </a:avLst>
          </a:prstGeom>
          <a:solidFill>
            <a:srgbClr val="CFE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8" name="Google Shape;128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7376041"/>
            <a:ext cx="161330" cy="129064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/>
          <p:nvPr/>
        </p:nvSpPr>
        <p:spPr>
          <a:xfrm>
            <a:off x="871418" y="7359491"/>
            <a:ext cx="13177957" cy="229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artel Sans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Martel Sans"/>
                <a:ea typeface="Martel Sans"/>
                <a:cs typeface="Martel Sans"/>
                <a:sym typeface="Martel Sans"/>
              </a:rPr>
              <a:t>Unified Output:</a:t>
            </a:r>
            <a:r>
              <a:rPr b="0" i="0" lang="en-US" sz="1000" u="none" cap="none" strike="noStrike">
                <a:solidFill>
                  <a:srgbClr val="000000"/>
                </a:solidFill>
                <a:latin typeface="Martel Sans"/>
                <a:ea typeface="Martel Sans"/>
                <a:cs typeface="Martel Sans"/>
                <a:sym typeface="Martel Sans"/>
              </a:rPr>
              <a:t> All scanning results merged into </a:t>
            </a:r>
            <a:r>
              <a:rPr b="0" i="0" lang="en-US" sz="1000" u="none" cap="none" strike="noStrike">
                <a:solidFill>
                  <a:srgbClr val="000000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combined_output.json</a:t>
            </a:r>
            <a:r>
              <a:rPr b="0" i="0" lang="en-US" sz="1000" u="none" cap="none" strike="noStrike">
                <a:solidFill>
                  <a:srgbClr val="000000"/>
                </a:solidFill>
                <a:latin typeface="Martel Sans"/>
                <a:ea typeface="Martel Sans"/>
                <a:cs typeface="Martel Sans"/>
                <a:sym typeface="Martel Sans"/>
              </a:rPr>
              <a:t> providing comprehensive attack surface intelligence across all three vulnerable applications.</a:t>
            </a:r>
            <a:endParaRPr b="0" i="0" sz="1000" u="none" cap="none" strike="noStrike"/>
          </a:p>
        </p:txBody>
      </p:sp>
      <p:sp>
        <p:nvSpPr>
          <p:cNvPr id="130" name="Google Shape;130;p15"/>
          <p:cNvSpPr txBox="1"/>
          <p:nvPr/>
        </p:nvSpPr>
        <p:spPr>
          <a:xfrm>
            <a:off x="12659675" y="7801440"/>
            <a:ext cx="1860300" cy="36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6"/>
          <p:cNvSpPr/>
          <p:nvPr/>
        </p:nvSpPr>
        <p:spPr>
          <a:xfrm>
            <a:off x="396822" y="311825"/>
            <a:ext cx="773100" cy="260400"/>
          </a:xfrm>
          <a:prstGeom prst="roundRect">
            <a:avLst>
              <a:gd fmla="val 17890" name="adj"/>
            </a:avLst>
          </a:prstGeom>
          <a:solidFill>
            <a:srgbClr val="DFEC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7" name="Google Shape;13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820" y="372904"/>
            <a:ext cx="90726" cy="90726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/>
          <p:nvPr/>
        </p:nvSpPr>
        <p:spPr>
          <a:xfrm>
            <a:off x="600900" y="345750"/>
            <a:ext cx="9774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700"/>
              <a:buFont typeface="Martel Sans"/>
              <a:buNone/>
            </a:pPr>
            <a:r>
              <a:rPr b="0" i="0" lang="en-US" sz="10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WEEK 3</a:t>
            </a:r>
            <a:endParaRPr b="0" i="0" sz="1000" u="none" cap="none" strike="noStrike"/>
          </a:p>
        </p:txBody>
      </p:sp>
      <p:sp>
        <p:nvSpPr>
          <p:cNvPr id="139" name="Google Shape;139;p16"/>
          <p:cNvSpPr/>
          <p:nvPr/>
        </p:nvSpPr>
        <p:spPr>
          <a:xfrm>
            <a:off x="396823" y="576150"/>
            <a:ext cx="48117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2200"/>
              <a:buFont typeface="Kanit"/>
              <a:buNone/>
            </a:pPr>
            <a:r>
              <a:rPr b="0" i="0" lang="en-US" sz="2200" u="none" cap="none" strike="noStrike">
                <a:solidFill>
                  <a:srgbClr val="272D45"/>
                </a:solidFill>
                <a:latin typeface="Kanit"/>
                <a:ea typeface="Kanit"/>
                <a:cs typeface="Kanit"/>
                <a:sym typeface="Kanit"/>
              </a:rPr>
              <a:t>AI-Powered SQL Injection Testing</a:t>
            </a:r>
            <a:endParaRPr b="0" i="0" sz="2200" u="none" cap="none" strike="noStrike"/>
          </a:p>
        </p:txBody>
      </p:sp>
      <p:sp>
        <p:nvSpPr>
          <p:cNvPr id="140" name="Google Shape;140;p16"/>
          <p:cNvSpPr/>
          <p:nvPr/>
        </p:nvSpPr>
        <p:spPr>
          <a:xfrm>
            <a:off x="248434" y="2052065"/>
            <a:ext cx="14110800" cy="15600"/>
          </a:xfrm>
          <a:prstGeom prst="roundRect">
            <a:avLst>
              <a:gd fmla="val 312558" name="adj"/>
            </a:avLst>
          </a:prstGeom>
          <a:solidFill>
            <a:srgbClr val="C5D2CF"/>
          </a:solidFill>
          <a:ln>
            <a:noFill/>
          </a:ln>
        </p:spPr>
        <p:txBody>
          <a:bodyPr anchorCtr="0" anchor="ctr" bIns="93225" lIns="93225" spcFirstLastPara="1" rIns="93225" wrap="square" tIns="93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3019256" y="1705226"/>
            <a:ext cx="15600" cy="346800"/>
          </a:xfrm>
          <a:prstGeom prst="roundRect">
            <a:avLst>
              <a:gd fmla="val 312558" name="adj"/>
            </a:avLst>
          </a:prstGeom>
          <a:solidFill>
            <a:srgbClr val="C5D2CF"/>
          </a:solidFill>
          <a:ln>
            <a:noFill/>
          </a:ln>
        </p:spPr>
        <p:txBody>
          <a:bodyPr anchorCtr="0" anchor="ctr" bIns="93225" lIns="93225" spcFirstLastPara="1" rIns="93225" wrap="square" tIns="93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6"/>
          <p:cNvSpPr/>
          <p:nvPr/>
        </p:nvSpPr>
        <p:spPr>
          <a:xfrm>
            <a:off x="2896985" y="1921962"/>
            <a:ext cx="260400" cy="260400"/>
          </a:xfrm>
          <a:prstGeom prst="roundRect">
            <a:avLst>
              <a:gd fmla="val 18669" name="adj"/>
            </a:avLst>
          </a:prstGeom>
          <a:solidFill>
            <a:srgbClr val="DFECE9"/>
          </a:solidFill>
          <a:ln cap="flat" cmpd="sng" w="972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225" lIns="93225" spcFirstLastPara="1" rIns="93225" wrap="square" tIns="93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6"/>
          <p:cNvSpPr/>
          <p:nvPr/>
        </p:nvSpPr>
        <p:spPr>
          <a:xfrm>
            <a:off x="2940332" y="1943575"/>
            <a:ext cx="1734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326"/>
              <a:buFont typeface="Kanit"/>
              <a:buNone/>
            </a:pPr>
            <a:r>
              <a:rPr b="0" i="0" lang="en-US" sz="1325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1</a:t>
            </a:r>
            <a:endParaRPr b="0" i="0" sz="1325" u="none" cap="none" strike="noStrike"/>
          </a:p>
        </p:txBody>
      </p:sp>
      <p:sp>
        <p:nvSpPr>
          <p:cNvPr id="144" name="Google Shape;144;p16"/>
          <p:cNvSpPr/>
          <p:nvPr/>
        </p:nvSpPr>
        <p:spPr>
          <a:xfrm>
            <a:off x="2304331" y="1154400"/>
            <a:ext cx="14457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122"/>
              <a:buFont typeface="Kanit"/>
              <a:buNone/>
            </a:pPr>
            <a:r>
              <a:rPr b="0" i="0" lang="en-US" sz="1121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Payload Generation</a:t>
            </a:r>
            <a:endParaRPr b="0" i="0" sz="1121" u="none" cap="none" strike="noStrike"/>
          </a:p>
        </p:txBody>
      </p:sp>
      <p:sp>
        <p:nvSpPr>
          <p:cNvPr id="145" name="Google Shape;145;p16"/>
          <p:cNvSpPr/>
          <p:nvPr/>
        </p:nvSpPr>
        <p:spPr>
          <a:xfrm>
            <a:off x="364027" y="1404405"/>
            <a:ext cx="53265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867"/>
              <a:buFont typeface="Martel Sans"/>
              <a:buNone/>
            </a:pPr>
            <a:r>
              <a:rPr b="0" i="0" lang="en-US" sz="866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Gemini 2.5 Flash produces context-aware SQL injection payloads</a:t>
            </a:r>
            <a:endParaRPr b="0" i="0" sz="866" u="none" cap="none" strike="noStrike"/>
          </a:p>
        </p:txBody>
      </p:sp>
      <p:sp>
        <p:nvSpPr>
          <p:cNvPr id="146" name="Google Shape;146;p16"/>
          <p:cNvSpPr/>
          <p:nvPr/>
        </p:nvSpPr>
        <p:spPr>
          <a:xfrm>
            <a:off x="5870336" y="2052004"/>
            <a:ext cx="15600" cy="346800"/>
          </a:xfrm>
          <a:prstGeom prst="roundRect">
            <a:avLst>
              <a:gd fmla="val 312558" name="adj"/>
            </a:avLst>
          </a:prstGeom>
          <a:solidFill>
            <a:srgbClr val="C5D2CF"/>
          </a:solidFill>
          <a:ln>
            <a:noFill/>
          </a:ln>
        </p:spPr>
        <p:txBody>
          <a:bodyPr anchorCtr="0" anchor="ctr" bIns="93225" lIns="93225" spcFirstLastPara="1" rIns="93225" wrap="square" tIns="93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6"/>
          <p:cNvSpPr/>
          <p:nvPr/>
        </p:nvSpPr>
        <p:spPr>
          <a:xfrm>
            <a:off x="5748066" y="1921962"/>
            <a:ext cx="260400" cy="260400"/>
          </a:xfrm>
          <a:prstGeom prst="roundRect">
            <a:avLst>
              <a:gd fmla="val 18669" name="adj"/>
            </a:avLst>
          </a:prstGeom>
          <a:solidFill>
            <a:srgbClr val="DFECE9"/>
          </a:solidFill>
          <a:ln cap="flat" cmpd="sng" w="972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225" lIns="93225" spcFirstLastPara="1" rIns="93225" wrap="square" tIns="93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6"/>
          <p:cNvSpPr/>
          <p:nvPr/>
        </p:nvSpPr>
        <p:spPr>
          <a:xfrm>
            <a:off x="5791414" y="1943575"/>
            <a:ext cx="1734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326"/>
              <a:buFont typeface="Kanit"/>
              <a:buNone/>
            </a:pPr>
            <a:r>
              <a:rPr b="0" i="0" lang="en-US" sz="1325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2</a:t>
            </a:r>
            <a:endParaRPr b="0" i="0" sz="1325" u="none" cap="none" strike="noStrike"/>
          </a:p>
        </p:txBody>
      </p:sp>
      <p:sp>
        <p:nvSpPr>
          <p:cNvPr id="149" name="Google Shape;149;p16"/>
          <p:cNvSpPr/>
          <p:nvPr/>
        </p:nvSpPr>
        <p:spPr>
          <a:xfrm>
            <a:off x="5155411" y="2514679"/>
            <a:ext cx="14457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122"/>
              <a:buFont typeface="Kanit"/>
              <a:buNone/>
            </a:pPr>
            <a:r>
              <a:rPr b="0" i="0" lang="en-US" sz="1121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Output Normalisation</a:t>
            </a:r>
            <a:endParaRPr b="0" i="0" sz="1121" u="none" cap="none" strike="noStrike"/>
          </a:p>
        </p:txBody>
      </p:sp>
      <p:sp>
        <p:nvSpPr>
          <p:cNvPr id="150" name="Google Shape;150;p16"/>
          <p:cNvSpPr/>
          <p:nvPr/>
        </p:nvSpPr>
        <p:spPr>
          <a:xfrm>
            <a:off x="3214986" y="2764685"/>
            <a:ext cx="53265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867"/>
              <a:buFont typeface="Martel Sans"/>
              <a:buNone/>
            </a:pPr>
            <a:r>
              <a:rPr b="0" i="0" lang="en-US" sz="866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Three-layer JSON extraction ensures clean, parseable results</a:t>
            </a:r>
            <a:endParaRPr b="0" i="0" sz="866" u="none" cap="none" strike="noStrike"/>
          </a:p>
        </p:txBody>
      </p:sp>
      <p:sp>
        <p:nvSpPr>
          <p:cNvPr id="151" name="Google Shape;151;p16"/>
          <p:cNvSpPr/>
          <p:nvPr/>
        </p:nvSpPr>
        <p:spPr>
          <a:xfrm>
            <a:off x="8721418" y="1705226"/>
            <a:ext cx="15600" cy="346800"/>
          </a:xfrm>
          <a:prstGeom prst="roundRect">
            <a:avLst>
              <a:gd fmla="val 312558" name="adj"/>
            </a:avLst>
          </a:prstGeom>
          <a:solidFill>
            <a:srgbClr val="C5D2CF"/>
          </a:solidFill>
          <a:ln>
            <a:noFill/>
          </a:ln>
        </p:spPr>
        <p:txBody>
          <a:bodyPr anchorCtr="0" anchor="ctr" bIns="93225" lIns="93225" spcFirstLastPara="1" rIns="93225" wrap="square" tIns="93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6"/>
          <p:cNvSpPr/>
          <p:nvPr/>
        </p:nvSpPr>
        <p:spPr>
          <a:xfrm>
            <a:off x="8599147" y="1921962"/>
            <a:ext cx="260400" cy="260400"/>
          </a:xfrm>
          <a:prstGeom prst="roundRect">
            <a:avLst>
              <a:gd fmla="val 18669" name="adj"/>
            </a:avLst>
          </a:prstGeom>
          <a:solidFill>
            <a:srgbClr val="DFECE9"/>
          </a:solidFill>
          <a:ln cap="flat" cmpd="sng" w="972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225" lIns="93225" spcFirstLastPara="1" rIns="93225" wrap="square" tIns="93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6"/>
          <p:cNvSpPr/>
          <p:nvPr/>
        </p:nvSpPr>
        <p:spPr>
          <a:xfrm>
            <a:off x="8642494" y="1943575"/>
            <a:ext cx="1734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326"/>
              <a:buFont typeface="Kanit"/>
              <a:buNone/>
            </a:pPr>
            <a:r>
              <a:rPr b="0" i="0" lang="en-US" sz="1325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3</a:t>
            </a:r>
            <a:endParaRPr b="0" i="0" sz="1325" u="none" cap="none" strike="noStrike"/>
          </a:p>
        </p:txBody>
      </p:sp>
      <p:sp>
        <p:nvSpPr>
          <p:cNvPr id="154" name="Google Shape;154;p16"/>
          <p:cNvSpPr/>
          <p:nvPr/>
        </p:nvSpPr>
        <p:spPr>
          <a:xfrm>
            <a:off x="8006492" y="1154400"/>
            <a:ext cx="14457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122"/>
              <a:buFont typeface="Kanit"/>
              <a:buNone/>
            </a:pPr>
            <a:r>
              <a:rPr b="0" i="0" lang="en-US" sz="1121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Attack Execution</a:t>
            </a:r>
            <a:endParaRPr b="0" i="0" sz="1121" u="none" cap="none" strike="noStrike"/>
          </a:p>
        </p:txBody>
      </p:sp>
      <p:sp>
        <p:nvSpPr>
          <p:cNvPr id="155" name="Google Shape;155;p16"/>
          <p:cNvSpPr/>
          <p:nvPr/>
        </p:nvSpPr>
        <p:spPr>
          <a:xfrm>
            <a:off x="6066067" y="1404405"/>
            <a:ext cx="53265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867"/>
              <a:buFont typeface="Martel Sans"/>
              <a:buNone/>
            </a:pPr>
            <a:r>
              <a:rPr b="0" i="0" lang="en-US" sz="866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Systematic injection across all discovered input fields</a:t>
            </a:r>
            <a:endParaRPr b="0" i="0" sz="866" u="none" cap="none" strike="noStrike"/>
          </a:p>
        </p:txBody>
      </p:sp>
      <p:sp>
        <p:nvSpPr>
          <p:cNvPr id="156" name="Google Shape;156;p16"/>
          <p:cNvSpPr/>
          <p:nvPr/>
        </p:nvSpPr>
        <p:spPr>
          <a:xfrm>
            <a:off x="11572498" y="2052004"/>
            <a:ext cx="15600" cy="346800"/>
          </a:xfrm>
          <a:prstGeom prst="roundRect">
            <a:avLst>
              <a:gd fmla="val 312558" name="adj"/>
            </a:avLst>
          </a:prstGeom>
          <a:solidFill>
            <a:srgbClr val="C5D2CF"/>
          </a:solidFill>
          <a:ln>
            <a:noFill/>
          </a:ln>
        </p:spPr>
        <p:txBody>
          <a:bodyPr anchorCtr="0" anchor="ctr" bIns="93225" lIns="93225" spcFirstLastPara="1" rIns="93225" wrap="square" tIns="93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6"/>
          <p:cNvSpPr/>
          <p:nvPr/>
        </p:nvSpPr>
        <p:spPr>
          <a:xfrm>
            <a:off x="11450227" y="1921962"/>
            <a:ext cx="260400" cy="260400"/>
          </a:xfrm>
          <a:prstGeom prst="roundRect">
            <a:avLst>
              <a:gd fmla="val 18669" name="adj"/>
            </a:avLst>
          </a:prstGeom>
          <a:solidFill>
            <a:srgbClr val="DFECE9"/>
          </a:solidFill>
          <a:ln cap="flat" cmpd="sng" w="972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225" lIns="93225" spcFirstLastPara="1" rIns="93225" wrap="square" tIns="93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6"/>
          <p:cNvSpPr/>
          <p:nvPr/>
        </p:nvSpPr>
        <p:spPr>
          <a:xfrm>
            <a:off x="11493575" y="1943575"/>
            <a:ext cx="1734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326"/>
              <a:buFont typeface="Kanit"/>
              <a:buNone/>
            </a:pPr>
            <a:r>
              <a:rPr b="0" i="0" lang="en-US" sz="1325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4</a:t>
            </a:r>
            <a:endParaRPr b="0" i="0" sz="1325" u="none" cap="none" strike="noStrike"/>
          </a:p>
        </p:txBody>
      </p:sp>
      <p:sp>
        <p:nvSpPr>
          <p:cNvPr id="159" name="Google Shape;159;p16"/>
          <p:cNvSpPr/>
          <p:nvPr/>
        </p:nvSpPr>
        <p:spPr>
          <a:xfrm>
            <a:off x="10857573" y="2514679"/>
            <a:ext cx="14457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122"/>
              <a:buFont typeface="Kanit"/>
              <a:buNone/>
            </a:pPr>
            <a:r>
              <a:rPr b="0" i="0" lang="en-US" sz="1121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Evidence Capture</a:t>
            </a:r>
            <a:endParaRPr b="0" i="0" sz="1121" u="none" cap="none" strike="noStrike"/>
          </a:p>
        </p:txBody>
      </p:sp>
      <p:sp>
        <p:nvSpPr>
          <p:cNvPr id="160" name="Google Shape;160;p16"/>
          <p:cNvSpPr/>
          <p:nvPr/>
        </p:nvSpPr>
        <p:spPr>
          <a:xfrm>
            <a:off x="8917147" y="2764685"/>
            <a:ext cx="53265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867"/>
              <a:buFont typeface="Martel Sans"/>
              <a:buNone/>
            </a:pPr>
            <a:r>
              <a:rPr b="0" i="0" lang="en-US" sz="866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Full response logging for vulnerability confirmation</a:t>
            </a:r>
            <a:endParaRPr b="0" i="0" sz="866" u="none" cap="none" strike="noStrike"/>
          </a:p>
        </p:txBody>
      </p:sp>
      <p:sp>
        <p:nvSpPr>
          <p:cNvPr id="161" name="Google Shape;161;p16"/>
          <p:cNvSpPr/>
          <p:nvPr/>
        </p:nvSpPr>
        <p:spPr>
          <a:xfrm>
            <a:off x="248434" y="3137585"/>
            <a:ext cx="14110800" cy="22200"/>
          </a:xfrm>
          <a:prstGeom prst="rect">
            <a:avLst/>
          </a:prstGeom>
          <a:solidFill>
            <a:srgbClr val="2C3249">
              <a:alpha val="49803"/>
            </a:srgbClr>
          </a:solidFill>
          <a:ln>
            <a:noFill/>
          </a:ln>
        </p:spPr>
        <p:txBody>
          <a:bodyPr anchorCtr="0" anchor="ctr" bIns="93225" lIns="93225" spcFirstLastPara="1" rIns="93225" wrap="square" tIns="93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6"/>
          <p:cNvSpPr/>
          <p:nvPr/>
        </p:nvSpPr>
        <p:spPr>
          <a:xfrm>
            <a:off x="248422" y="3405425"/>
            <a:ext cx="26919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1326"/>
              <a:buFont typeface="Kanit"/>
              <a:buNone/>
            </a:pPr>
            <a:r>
              <a:rPr b="0" i="0" lang="en-US" sz="1325" u="none" cap="none" strike="noStrike">
                <a:solidFill>
                  <a:srgbClr val="272D45"/>
                </a:solidFill>
                <a:latin typeface="Kanit"/>
                <a:ea typeface="Kanit"/>
                <a:cs typeface="Kanit"/>
                <a:sym typeface="Kanit"/>
              </a:rPr>
              <a:t>DVWA Exploitation Results</a:t>
            </a:r>
            <a:endParaRPr b="0" i="0" sz="1325" u="none" cap="none" strike="noStrike"/>
          </a:p>
        </p:txBody>
      </p:sp>
      <p:sp>
        <p:nvSpPr>
          <p:cNvPr id="163" name="Google Shape;163;p16"/>
          <p:cNvSpPr/>
          <p:nvPr/>
        </p:nvSpPr>
        <p:spPr>
          <a:xfrm>
            <a:off x="248434" y="3737874"/>
            <a:ext cx="47553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867"/>
              <a:buFont typeface="Martel Sans"/>
              <a:buNone/>
            </a:pPr>
            <a:r>
              <a:rPr b="0" i="0" lang="en-US" sz="866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Successfully extracted complete user database using classic bypass technique:</a:t>
            </a:r>
            <a:endParaRPr b="0" i="0" sz="866" u="none" cap="none" strike="noStrike"/>
          </a:p>
        </p:txBody>
      </p:sp>
      <p:sp>
        <p:nvSpPr>
          <p:cNvPr id="164" name="Google Shape;164;p16"/>
          <p:cNvSpPr/>
          <p:nvPr/>
        </p:nvSpPr>
        <p:spPr>
          <a:xfrm>
            <a:off x="248434" y="4052961"/>
            <a:ext cx="4755300" cy="358500"/>
          </a:xfrm>
          <a:prstGeom prst="roundRect">
            <a:avLst>
              <a:gd fmla="val 13553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3225" lIns="93225" spcFirstLastPara="1" rIns="93225" wrap="square" tIns="93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6"/>
          <p:cNvSpPr/>
          <p:nvPr/>
        </p:nvSpPr>
        <p:spPr>
          <a:xfrm>
            <a:off x="242727" y="4052961"/>
            <a:ext cx="4767000" cy="358500"/>
          </a:xfrm>
          <a:prstGeom prst="roundRect">
            <a:avLst>
              <a:gd fmla="val 4840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3225" lIns="93225" spcFirstLastPara="1" rIns="93225" wrap="square" tIns="93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6"/>
          <p:cNvSpPr/>
          <p:nvPr/>
        </p:nvSpPr>
        <p:spPr>
          <a:xfrm>
            <a:off x="358320" y="4139655"/>
            <a:ext cx="45357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867"/>
              <a:buFont typeface="Consolas"/>
              <a:buNone/>
            </a:pPr>
            <a:r>
              <a:rPr b="0" i="0" lang="en-US" sz="866" u="none" cap="none" strike="noStrike">
                <a:solidFill>
                  <a:srgbClr val="2C32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' OR '1'='1</a:t>
            </a:r>
            <a:endParaRPr b="0" i="0" sz="866" u="none" cap="none" strike="noStrike"/>
          </a:p>
        </p:txBody>
      </p:sp>
      <p:sp>
        <p:nvSpPr>
          <p:cNvPr id="167" name="Google Shape;167;p16"/>
          <p:cNvSpPr/>
          <p:nvPr/>
        </p:nvSpPr>
        <p:spPr>
          <a:xfrm>
            <a:off x="248434" y="4541437"/>
            <a:ext cx="47553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867"/>
              <a:buFont typeface="Martel Sans"/>
              <a:buNone/>
            </a:pPr>
            <a:r>
              <a:rPr b="1" i="0" lang="en-US" sz="866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Retrieved records:</a:t>
            </a:r>
            <a:endParaRPr b="0" i="0" sz="866" u="none" cap="none" strike="noStrike"/>
          </a:p>
        </p:txBody>
      </p:sp>
      <p:sp>
        <p:nvSpPr>
          <p:cNvPr id="168" name="Google Shape;168;p16"/>
          <p:cNvSpPr/>
          <p:nvPr/>
        </p:nvSpPr>
        <p:spPr>
          <a:xfrm>
            <a:off x="248434" y="4830541"/>
            <a:ext cx="47553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9691" lvl="0" marL="349691" marR="0" rtl="0" algn="l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867"/>
              <a:buFont typeface="Martel Sans"/>
              <a:buChar char="•"/>
            </a:pPr>
            <a:r>
              <a:rPr b="0" i="0" lang="en-US" sz="866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admin / admin</a:t>
            </a:r>
            <a:endParaRPr b="0" i="0" sz="866" u="none" cap="none" strike="noStrike"/>
          </a:p>
        </p:txBody>
      </p:sp>
      <p:sp>
        <p:nvSpPr>
          <p:cNvPr id="169" name="Google Shape;169;p16"/>
          <p:cNvSpPr/>
          <p:nvPr/>
        </p:nvSpPr>
        <p:spPr>
          <a:xfrm>
            <a:off x="248434" y="5056019"/>
            <a:ext cx="47553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9691" lvl="0" marL="349691" marR="0" rtl="0" algn="l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867"/>
              <a:buFont typeface="Martel Sans"/>
              <a:buChar char="•"/>
            </a:pPr>
            <a:r>
              <a:rPr b="0" i="0" lang="en-US" sz="866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Gordon Brown</a:t>
            </a:r>
            <a:endParaRPr b="0" i="0" sz="866" u="none" cap="none" strike="noStrike"/>
          </a:p>
        </p:txBody>
      </p:sp>
      <p:sp>
        <p:nvSpPr>
          <p:cNvPr id="170" name="Google Shape;170;p16"/>
          <p:cNvSpPr/>
          <p:nvPr/>
        </p:nvSpPr>
        <p:spPr>
          <a:xfrm>
            <a:off x="248434" y="5281498"/>
            <a:ext cx="47553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9691" lvl="0" marL="349691" marR="0" rtl="0" algn="l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867"/>
              <a:buFont typeface="Martel Sans"/>
              <a:buChar char="•"/>
            </a:pPr>
            <a:r>
              <a:rPr b="0" i="0" lang="en-US" sz="866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Hack Me</a:t>
            </a:r>
            <a:endParaRPr b="0" i="0" sz="866" u="none" cap="none" strike="noStrike"/>
          </a:p>
        </p:txBody>
      </p:sp>
      <p:sp>
        <p:nvSpPr>
          <p:cNvPr id="171" name="Google Shape;171;p16"/>
          <p:cNvSpPr/>
          <p:nvPr/>
        </p:nvSpPr>
        <p:spPr>
          <a:xfrm>
            <a:off x="248434" y="5506977"/>
            <a:ext cx="47553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9691" lvl="0" marL="349691" marR="0" rtl="0" algn="l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867"/>
              <a:buFont typeface="Martel Sans"/>
              <a:buChar char="•"/>
            </a:pPr>
            <a:r>
              <a:rPr b="0" i="0" lang="en-US" sz="866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Pablo Picasso</a:t>
            </a:r>
            <a:endParaRPr b="0" i="0" sz="866" u="none" cap="none" strike="noStrike"/>
          </a:p>
        </p:txBody>
      </p:sp>
      <p:sp>
        <p:nvSpPr>
          <p:cNvPr id="172" name="Google Shape;172;p16"/>
          <p:cNvSpPr/>
          <p:nvPr/>
        </p:nvSpPr>
        <p:spPr>
          <a:xfrm>
            <a:off x="248434" y="5732455"/>
            <a:ext cx="47553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9691" lvl="0" marL="349691" marR="0" rtl="0" algn="l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867"/>
              <a:buFont typeface="Martel Sans"/>
              <a:buChar char="•"/>
            </a:pPr>
            <a:r>
              <a:rPr b="0" i="0" lang="en-US" sz="866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Bob Smith</a:t>
            </a:r>
            <a:endParaRPr b="0" i="0" sz="866" u="none" cap="none" strike="noStrike"/>
          </a:p>
        </p:txBody>
      </p:sp>
      <p:sp>
        <p:nvSpPr>
          <p:cNvPr id="173" name="Google Shape;173;p16"/>
          <p:cNvSpPr/>
          <p:nvPr/>
        </p:nvSpPr>
        <p:spPr>
          <a:xfrm>
            <a:off x="5293709" y="3405422"/>
            <a:ext cx="21657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1326"/>
              <a:buFont typeface="Kanit"/>
              <a:buNone/>
            </a:pPr>
            <a:r>
              <a:rPr b="0" i="0" lang="en-US" sz="1325" u="none" cap="none" strike="noStrike">
                <a:solidFill>
                  <a:srgbClr val="272D45"/>
                </a:solidFill>
                <a:latin typeface="Kanit"/>
                <a:ea typeface="Kanit"/>
                <a:cs typeface="Kanit"/>
                <a:sym typeface="Kanit"/>
              </a:rPr>
              <a:t>LLM Integration Architecture</a:t>
            </a:r>
            <a:endParaRPr b="0" i="0" sz="1325" u="none" cap="none" strike="noStrike"/>
          </a:p>
        </p:txBody>
      </p:sp>
      <p:pic>
        <p:nvPicPr>
          <p:cNvPr descr="preencoded.png" id="174" name="Google Shape;17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93709" y="3766771"/>
            <a:ext cx="115593" cy="115593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6"/>
          <p:cNvSpPr/>
          <p:nvPr/>
        </p:nvSpPr>
        <p:spPr>
          <a:xfrm>
            <a:off x="5293709" y="3933240"/>
            <a:ext cx="9072900" cy="15600"/>
          </a:xfrm>
          <a:prstGeom prst="rect">
            <a:avLst/>
          </a:prstGeom>
          <a:solidFill>
            <a:srgbClr val="437066"/>
          </a:solidFill>
          <a:ln>
            <a:noFill/>
          </a:ln>
        </p:spPr>
        <p:txBody>
          <a:bodyPr anchorCtr="0" anchor="ctr" bIns="93225" lIns="93225" spcFirstLastPara="1" rIns="93225" wrap="square" tIns="93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6"/>
          <p:cNvSpPr/>
          <p:nvPr/>
        </p:nvSpPr>
        <p:spPr>
          <a:xfrm>
            <a:off x="5293709" y="4022120"/>
            <a:ext cx="14457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122"/>
              <a:buFont typeface="Kanit"/>
              <a:buNone/>
            </a:pPr>
            <a:r>
              <a:rPr b="0" i="0" lang="en-US" sz="1121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API Configuration</a:t>
            </a:r>
            <a:endParaRPr b="0" i="0" sz="1121" u="none" cap="none" strike="noStrike"/>
          </a:p>
        </p:txBody>
      </p:sp>
      <p:sp>
        <p:nvSpPr>
          <p:cNvPr id="177" name="Google Shape;177;p16"/>
          <p:cNvSpPr/>
          <p:nvPr/>
        </p:nvSpPr>
        <p:spPr>
          <a:xfrm>
            <a:off x="5293709" y="4318387"/>
            <a:ext cx="90729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867"/>
              <a:buFont typeface="Martel Sans"/>
              <a:buNone/>
            </a:pPr>
            <a:r>
              <a:rPr b="0" i="0" lang="en-US" sz="866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Secure API key management through environment variables</a:t>
            </a:r>
            <a:endParaRPr b="0" i="0" sz="866" u="none" cap="none" strike="noStrike"/>
          </a:p>
        </p:txBody>
      </p:sp>
      <p:pic>
        <p:nvPicPr>
          <p:cNvPr descr="preencoded.png" id="178" name="Google Shape;17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93709" y="4720169"/>
            <a:ext cx="115593" cy="115593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6"/>
          <p:cNvSpPr/>
          <p:nvPr/>
        </p:nvSpPr>
        <p:spPr>
          <a:xfrm>
            <a:off x="5293709" y="4886637"/>
            <a:ext cx="9072900" cy="15600"/>
          </a:xfrm>
          <a:prstGeom prst="rect">
            <a:avLst/>
          </a:prstGeom>
          <a:solidFill>
            <a:srgbClr val="437066"/>
          </a:solidFill>
          <a:ln>
            <a:noFill/>
          </a:ln>
        </p:spPr>
        <p:txBody>
          <a:bodyPr anchorCtr="0" anchor="ctr" bIns="93225" lIns="93225" spcFirstLastPara="1" rIns="93225" wrap="square" tIns="93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6"/>
          <p:cNvSpPr/>
          <p:nvPr/>
        </p:nvSpPr>
        <p:spPr>
          <a:xfrm>
            <a:off x="5293709" y="4975518"/>
            <a:ext cx="14457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122"/>
              <a:buFont typeface="Kanit"/>
              <a:buNone/>
            </a:pPr>
            <a:r>
              <a:rPr b="0" i="0" lang="en-US" sz="1121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Prompt Engineering</a:t>
            </a:r>
            <a:endParaRPr b="0" i="0" sz="1121" u="none" cap="none" strike="noStrike"/>
          </a:p>
        </p:txBody>
      </p:sp>
      <p:sp>
        <p:nvSpPr>
          <p:cNvPr id="181" name="Google Shape;181;p16"/>
          <p:cNvSpPr/>
          <p:nvPr/>
        </p:nvSpPr>
        <p:spPr>
          <a:xfrm>
            <a:off x="5293709" y="5271784"/>
            <a:ext cx="90729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867"/>
              <a:buFont typeface="Martel Sans"/>
              <a:buNone/>
            </a:pPr>
            <a:r>
              <a:rPr b="0" i="0" lang="en-US" sz="866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Strict instructions enforcing JSON-only output with no markdown artifacts</a:t>
            </a:r>
            <a:endParaRPr b="0" i="0" sz="866" u="none" cap="none" strike="noStrike"/>
          </a:p>
        </p:txBody>
      </p:sp>
      <p:pic>
        <p:nvPicPr>
          <p:cNvPr descr="preencoded.png" id="182" name="Google Shape;18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93709" y="5673566"/>
            <a:ext cx="115593" cy="115593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6"/>
          <p:cNvSpPr/>
          <p:nvPr/>
        </p:nvSpPr>
        <p:spPr>
          <a:xfrm>
            <a:off x="5293709" y="5840035"/>
            <a:ext cx="9072900" cy="15600"/>
          </a:xfrm>
          <a:prstGeom prst="rect">
            <a:avLst/>
          </a:prstGeom>
          <a:solidFill>
            <a:srgbClr val="437066"/>
          </a:solidFill>
          <a:ln>
            <a:noFill/>
          </a:ln>
        </p:spPr>
        <p:txBody>
          <a:bodyPr anchorCtr="0" anchor="ctr" bIns="93225" lIns="93225" spcFirstLastPara="1" rIns="93225" wrap="square" tIns="93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6"/>
          <p:cNvSpPr/>
          <p:nvPr/>
        </p:nvSpPr>
        <p:spPr>
          <a:xfrm>
            <a:off x="5293709" y="5928914"/>
            <a:ext cx="14457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122"/>
              <a:buFont typeface="Kanit"/>
              <a:buNone/>
            </a:pPr>
            <a:r>
              <a:rPr b="0" i="0" lang="en-US" sz="1121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Response Cleaning</a:t>
            </a:r>
            <a:endParaRPr b="0" i="0" sz="1121" u="none" cap="none" strike="noStrike"/>
          </a:p>
        </p:txBody>
      </p:sp>
      <p:sp>
        <p:nvSpPr>
          <p:cNvPr id="185" name="Google Shape;185;p16"/>
          <p:cNvSpPr/>
          <p:nvPr/>
        </p:nvSpPr>
        <p:spPr>
          <a:xfrm>
            <a:off x="5293709" y="6225182"/>
            <a:ext cx="90729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867"/>
              <a:buFont typeface="Martel Sans"/>
              <a:buNone/>
            </a:pPr>
            <a:r>
              <a:rPr b="0" i="0" lang="en-US" sz="866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Removal of backticks, fences, and explanatory text using regex patterns</a:t>
            </a:r>
            <a:endParaRPr b="0" i="0" sz="866" u="none" cap="none" strike="noStrike"/>
          </a:p>
        </p:txBody>
      </p:sp>
      <p:pic>
        <p:nvPicPr>
          <p:cNvPr descr="preencoded.png" id="186" name="Google Shape;186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93709" y="6626964"/>
            <a:ext cx="115593" cy="115593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6"/>
          <p:cNvSpPr/>
          <p:nvPr/>
        </p:nvSpPr>
        <p:spPr>
          <a:xfrm>
            <a:off x="5293709" y="6793431"/>
            <a:ext cx="9072900" cy="15600"/>
          </a:xfrm>
          <a:prstGeom prst="rect">
            <a:avLst/>
          </a:prstGeom>
          <a:solidFill>
            <a:srgbClr val="437066"/>
          </a:solidFill>
          <a:ln>
            <a:noFill/>
          </a:ln>
        </p:spPr>
        <p:txBody>
          <a:bodyPr anchorCtr="0" anchor="ctr" bIns="93225" lIns="93225" spcFirstLastPara="1" rIns="93225" wrap="square" tIns="93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6"/>
          <p:cNvSpPr/>
          <p:nvPr/>
        </p:nvSpPr>
        <p:spPr>
          <a:xfrm>
            <a:off x="5293709" y="6882312"/>
            <a:ext cx="14457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122"/>
              <a:buFont typeface="Kanit"/>
              <a:buNone/>
            </a:pPr>
            <a:r>
              <a:rPr b="0" i="0" lang="en-US" sz="1121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Fallback Mechanisms</a:t>
            </a:r>
            <a:endParaRPr b="0" i="0" sz="1121" u="none" cap="none" strike="noStrike"/>
          </a:p>
        </p:txBody>
      </p:sp>
      <p:sp>
        <p:nvSpPr>
          <p:cNvPr id="189" name="Google Shape;189;p16"/>
          <p:cNvSpPr/>
          <p:nvPr/>
        </p:nvSpPr>
        <p:spPr>
          <a:xfrm>
            <a:off x="5293709" y="7178580"/>
            <a:ext cx="90729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867"/>
              <a:buFont typeface="Martel Sans"/>
              <a:buNone/>
            </a:pPr>
            <a:r>
              <a:rPr b="0" i="0" lang="en-US" sz="866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Retry logic and regex extraction when direct parsing fails</a:t>
            </a:r>
            <a:endParaRPr b="0" i="0" sz="866" u="none" cap="none" strike="noStrike"/>
          </a:p>
        </p:txBody>
      </p:sp>
      <p:sp>
        <p:nvSpPr>
          <p:cNvPr id="190" name="Google Shape;190;p16"/>
          <p:cNvSpPr txBox="1"/>
          <p:nvPr/>
        </p:nvSpPr>
        <p:spPr>
          <a:xfrm>
            <a:off x="12659675" y="7760999"/>
            <a:ext cx="1860300" cy="36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7"/>
          <p:cNvSpPr/>
          <p:nvPr/>
        </p:nvSpPr>
        <p:spPr>
          <a:xfrm>
            <a:off x="485537" y="511731"/>
            <a:ext cx="740331" cy="260628"/>
          </a:xfrm>
          <a:prstGeom prst="roundRect">
            <a:avLst>
              <a:gd fmla="val 17886" name="adj"/>
            </a:avLst>
          </a:prstGeom>
          <a:solidFill>
            <a:srgbClr val="DFEC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7" name="Google Shape;19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762" y="586502"/>
            <a:ext cx="110966" cy="110966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7"/>
          <p:cNvSpPr/>
          <p:nvPr/>
        </p:nvSpPr>
        <p:spPr>
          <a:xfrm>
            <a:off x="735211" y="553283"/>
            <a:ext cx="407432" cy="1775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850"/>
              <a:buFont typeface="Martel Sans"/>
              <a:buNone/>
            </a:pPr>
            <a:r>
              <a:rPr b="0" i="0" lang="en-US" sz="8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WEEK 4</a:t>
            </a:r>
            <a:endParaRPr b="0" i="0" sz="850" u="none" cap="none" strike="noStrike"/>
          </a:p>
        </p:txBody>
      </p:sp>
      <p:pic>
        <p:nvPicPr>
          <p:cNvPr descr="preencoded.png" id="199" name="Google Shape;19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4245" y="7325201"/>
            <a:ext cx="173355" cy="138708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7"/>
          <p:cNvSpPr/>
          <p:nvPr/>
        </p:nvSpPr>
        <p:spPr>
          <a:xfrm>
            <a:off x="485525" y="830098"/>
            <a:ext cx="7005900" cy="4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2700"/>
              <a:buFont typeface="Kanit"/>
              <a:buNone/>
            </a:pPr>
            <a:r>
              <a:rPr i="0" lang="en-US" sz="2700" cap="none" strike="noStrike">
                <a:solidFill>
                  <a:srgbClr val="272D45"/>
                </a:solidFill>
                <a:latin typeface="Kanit"/>
                <a:ea typeface="Kanit"/>
                <a:cs typeface="Kanit"/>
                <a:sym typeface="Kanit"/>
              </a:rPr>
              <a:t>Cross-Site Scripting Detection Engine</a:t>
            </a:r>
            <a:endParaRPr i="0" sz="2700" cap="none" strike="noStrike"/>
          </a:p>
        </p:txBody>
      </p:sp>
      <p:sp>
        <p:nvSpPr>
          <p:cNvPr id="201" name="Google Shape;201;p17"/>
          <p:cNvSpPr/>
          <p:nvPr/>
        </p:nvSpPr>
        <p:spPr>
          <a:xfrm>
            <a:off x="485537" y="1471612"/>
            <a:ext cx="13659326" cy="2219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050"/>
              <a:buFont typeface="Martel Sans"/>
              <a:buNone/>
            </a:pPr>
            <a:r>
              <a:rPr i="0" lang="en-US" sz="1050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Automated XSS vulnerability identification through systematic payload injection and intelligent response analysis across reflected, stored, and DOM-based attack vectors.</a:t>
            </a:r>
            <a:endParaRPr i="0" sz="1050" cap="none" strike="noStrike"/>
          </a:p>
        </p:txBody>
      </p:sp>
      <p:sp>
        <p:nvSpPr>
          <p:cNvPr id="202" name="Google Shape;202;p17"/>
          <p:cNvSpPr/>
          <p:nvPr/>
        </p:nvSpPr>
        <p:spPr>
          <a:xfrm>
            <a:off x="485537" y="1849517"/>
            <a:ext cx="4460558" cy="1051798"/>
          </a:xfrm>
          <a:prstGeom prst="roundRect">
            <a:avLst>
              <a:gd fmla="val 5540" name="adj"/>
            </a:avLst>
          </a:prstGeom>
          <a:solidFill>
            <a:srgbClr val="DFEC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7"/>
          <p:cNvSpPr/>
          <p:nvPr/>
        </p:nvSpPr>
        <p:spPr>
          <a:xfrm>
            <a:off x="631865" y="1995845"/>
            <a:ext cx="1734145" cy="2168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350"/>
              <a:buFont typeface="Kanit"/>
              <a:buNone/>
            </a:pPr>
            <a:r>
              <a:rPr i="0" lang="en-US" sz="1350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Payload Injection</a:t>
            </a:r>
            <a:endParaRPr i="0" sz="1350" cap="none" strike="noStrike"/>
          </a:p>
        </p:txBody>
      </p:sp>
      <p:sp>
        <p:nvSpPr>
          <p:cNvPr id="204" name="Google Shape;204;p17"/>
          <p:cNvSpPr/>
          <p:nvPr/>
        </p:nvSpPr>
        <p:spPr>
          <a:xfrm>
            <a:off x="631865" y="2295882"/>
            <a:ext cx="4167902" cy="459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050"/>
              <a:buFont typeface="Martel Sans"/>
              <a:buNone/>
            </a:pPr>
            <a:r>
              <a:rPr i="0" lang="en-US" sz="1050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Common JavaScript vectors including </a:t>
            </a:r>
            <a:r>
              <a:rPr i="0" lang="en-US" sz="1050" cap="none" strike="noStrike">
                <a:solidFill>
                  <a:srgbClr val="2C32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&lt;script&gt;alert(1)&lt;/script&gt;</a:t>
            </a:r>
            <a:r>
              <a:rPr i="0" lang="en-US" sz="1050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 and DOM manipulation techniques</a:t>
            </a:r>
            <a:endParaRPr i="0" sz="1050" cap="none" strike="noStrike"/>
          </a:p>
        </p:txBody>
      </p:sp>
      <p:sp>
        <p:nvSpPr>
          <p:cNvPr id="205" name="Google Shape;205;p17"/>
          <p:cNvSpPr/>
          <p:nvPr/>
        </p:nvSpPr>
        <p:spPr>
          <a:xfrm>
            <a:off x="5084802" y="1849517"/>
            <a:ext cx="4460677" cy="1051798"/>
          </a:xfrm>
          <a:prstGeom prst="roundRect">
            <a:avLst>
              <a:gd fmla="val 5540" name="adj"/>
            </a:avLst>
          </a:prstGeom>
          <a:solidFill>
            <a:srgbClr val="DFEC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7"/>
          <p:cNvSpPr/>
          <p:nvPr/>
        </p:nvSpPr>
        <p:spPr>
          <a:xfrm>
            <a:off x="5231130" y="1995845"/>
            <a:ext cx="1734145" cy="2168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350"/>
              <a:buFont typeface="Kanit"/>
              <a:buNone/>
            </a:pPr>
            <a:r>
              <a:rPr i="0" lang="en-US" sz="1350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Response Analysis</a:t>
            </a:r>
            <a:endParaRPr i="0" sz="1350" cap="none" strike="noStrike"/>
          </a:p>
        </p:txBody>
      </p:sp>
      <p:sp>
        <p:nvSpPr>
          <p:cNvPr id="207" name="Google Shape;207;p17"/>
          <p:cNvSpPr/>
          <p:nvPr/>
        </p:nvSpPr>
        <p:spPr>
          <a:xfrm>
            <a:off x="5231130" y="2295882"/>
            <a:ext cx="4168021" cy="443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050"/>
              <a:buFont typeface="Martel Sans"/>
              <a:buNone/>
            </a:pPr>
            <a:r>
              <a:rPr i="0" lang="en-US" sz="1050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Detection of unescaped payload reflection and executable script contexts</a:t>
            </a:r>
            <a:endParaRPr i="0" sz="1050" cap="none" strike="noStrike"/>
          </a:p>
        </p:txBody>
      </p:sp>
      <p:sp>
        <p:nvSpPr>
          <p:cNvPr id="208" name="Google Shape;208;p17"/>
          <p:cNvSpPr/>
          <p:nvPr/>
        </p:nvSpPr>
        <p:spPr>
          <a:xfrm>
            <a:off x="9684187" y="1849517"/>
            <a:ext cx="4460677" cy="1051798"/>
          </a:xfrm>
          <a:prstGeom prst="roundRect">
            <a:avLst>
              <a:gd fmla="val 5540" name="adj"/>
            </a:avLst>
          </a:prstGeom>
          <a:solidFill>
            <a:srgbClr val="DFEC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7"/>
          <p:cNvSpPr/>
          <p:nvPr/>
        </p:nvSpPr>
        <p:spPr>
          <a:xfrm>
            <a:off x="9830514" y="1995845"/>
            <a:ext cx="1734145" cy="2168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350"/>
              <a:buFont typeface="Kanit"/>
              <a:buNone/>
            </a:pPr>
            <a:r>
              <a:rPr i="0" lang="en-US" sz="1350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Persistence Testing</a:t>
            </a:r>
            <a:endParaRPr i="0" sz="1350" cap="none" strike="noStrike"/>
          </a:p>
        </p:txBody>
      </p:sp>
      <p:sp>
        <p:nvSpPr>
          <p:cNvPr id="210" name="Google Shape;210;p17"/>
          <p:cNvSpPr/>
          <p:nvPr/>
        </p:nvSpPr>
        <p:spPr>
          <a:xfrm>
            <a:off x="9830514" y="2295882"/>
            <a:ext cx="4168021" cy="2219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050"/>
              <a:buFont typeface="Martel Sans"/>
              <a:buNone/>
            </a:pPr>
            <a:r>
              <a:rPr i="0" lang="en-US" sz="1050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Verification of stored XSS through multi-request validation</a:t>
            </a:r>
            <a:endParaRPr i="0" sz="1050" cap="none" strike="noStrike"/>
          </a:p>
        </p:txBody>
      </p:sp>
      <p:sp>
        <p:nvSpPr>
          <p:cNvPr id="211" name="Google Shape;211;p17"/>
          <p:cNvSpPr/>
          <p:nvPr/>
        </p:nvSpPr>
        <p:spPr>
          <a:xfrm>
            <a:off x="485537" y="3126618"/>
            <a:ext cx="13659326" cy="24884"/>
          </a:xfrm>
          <a:prstGeom prst="rect">
            <a:avLst/>
          </a:prstGeom>
          <a:solidFill>
            <a:srgbClr val="2C3249">
              <a:alpha val="4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7"/>
          <p:cNvSpPr/>
          <p:nvPr/>
        </p:nvSpPr>
        <p:spPr>
          <a:xfrm>
            <a:off x="485522" y="3359476"/>
            <a:ext cx="32130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1600"/>
              <a:buFont typeface="Kanit"/>
              <a:buNone/>
            </a:pPr>
            <a:r>
              <a:rPr i="0" lang="en-US" sz="1600" cap="none" strike="noStrike">
                <a:solidFill>
                  <a:srgbClr val="272D45"/>
                </a:solidFill>
                <a:latin typeface="Kanit"/>
                <a:ea typeface="Kanit"/>
                <a:cs typeface="Kanit"/>
                <a:sym typeface="Kanit"/>
              </a:rPr>
              <a:t>Vulnerability Detection Logic</a:t>
            </a:r>
            <a:endParaRPr i="0" sz="1600" cap="none" strike="noStrike"/>
          </a:p>
        </p:txBody>
      </p:sp>
      <p:sp>
        <p:nvSpPr>
          <p:cNvPr id="213" name="Google Shape;213;p17"/>
          <p:cNvSpPr/>
          <p:nvPr/>
        </p:nvSpPr>
        <p:spPr>
          <a:xfrm>
            <a:off x="485537" y="3952399"/>
            <a:ext cx="8060174" cy="443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050"/>
              <a:buFont typeface="Martel Sans"/>
              <a:buNone/>
            </a:pPr>
            <a:r>
              <a:rPr i="0" lang="en-US" sz="1050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XSS confirmation occurs when injected payloads appear in responses without proper encoding, execute within HTML or JavaScript contexts, or persist across subsequent requests.</a:t>
            </a:r>
            <a:endParaRPr i="0" sz="1050" cap="none" strike="noStrike"/>
          </a:p>
        </p:txBody>
      </p:sp>
      <p:sp>
        <p:nvSpPr>
          <p:cNvPr id="214" name="Google Shape;214;p17"/>
          <p:cNvSpPr/>
          <p:nvPr/>
        </p:nvSpPr>
        <p:spPr>
          <a:xfrm>
            <a:off x="485537" y="4521041"/>
            <a:ext cx="8060174" cy="2219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050"/>
              <a:buFont typeface="Martel Sans"/>
              <a:buNone/>
            </a:pPr>
            <a:r>
              <a:rPr i="0" lang="en-US" sz="1050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Input field filtering:</a:t>
            </a:r>
            <a:endParaRPr i="0" sz="1050" cap="none" strike="noStrike"/>
          </a:p>
        </p:txBody>
      </p:sp>
      <p:sp>
        <p:nvSpPr>
          <p:cNvPr id="215" name="Google Shape;215;p17"/>
          <p:cNvSpPr/>
          <p:nvPr/>
        </p:nvSpPr>
        <p:spPr>
          <a:xfrm>
            <a:off x="485537" y="4867751"/>
            <a:ext cx="8060174" cy="2219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050"/>
              <a:buFont typeface="Martel Sans"/>
              <a:buChar char="•"/>
            </a:pPr>
            <a:r>
              <a:rPr i="0" lang="en-US" sz="1050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Text inputs and textareas actively tested</a:t>
            </a:r>
            <a:endParaRPr i="0" sz="1050" cap="none" strike="noStrike"/>
          </a:p>
        </p:txBody>
      </p:sp>
      <p:sp>
        <p:nvSpPr>
          <p:cNvPr id="216" name="Google Shape;216;p17"/>
          <p:cNvSpPr/>
          <p:nvPr/>
        </p:nvSpPr>
        <p:spPr>
          <a:xfrm>
            <a:off x="485537" y="5138142"/>
            <a:ext cx="8060174" cy="2219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050"/>
              <a:buFont typeface="Martel Sans"/>
              <a:buChar char="•"/>
            </a:pPr>
            <a:r>
              <a:rPr i="0" lang="en-US" sz="1050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Submit buttons and hidden fields excluded</a:t>
            </a:r>
            <a:endParaRPr i="0" sz="1050" cap="none" strike="noStrike"/>
          </a:p>
        </p:txBody>
      </p:sp>
      <p:sp>
        <p:nvSpPr>
          <p:cNvPr id="217" name="Google Shape;217;p17"/>
          <p:cNvSpPr/>
          <p:nvPr/>
        </p:nvSpPr>
        <p:spPr>
          <a:xfrm>
            <a:off x="485537" y="5408533"/>
            <a:ext cx="8060174" cy="2219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050"/>
              <a:buFont typeface="Martel Sans"/>
              <a:buChar char="•"/>
            </a:pPr>
            <a:r>
              <a:rPr i="0" lang="en-US" sz="1050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URL parameters systematically evaluated</a:t>
            </a:r>
            <a:endParaRPr i="0" sz="1050" cap="none" strike="noStrike"/>
          </a:p>
        </p:txBody>
      </p:sp>
      <p:sp>
        <p:nvSpPr>
          <p:cNvPr id="218" name="Google Shape;218;p17"/>
          <p:cNvSpPr/>
          <p:nvPr/>
        </p:nvSpPr>
        <p:spPr>
          <a:xfrm>
            <a:off x="485537" y="5755243"/>
            <a:ext cx="8060174" cy="459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050"/>
              <a:buFont typeface="Martel Sans"/>
              <a:buNone/>
            </a:pPr>
            <a:r>
              <a:rPr i="0" lang="en-US" sz="1050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Evidence captured: Complete HTTP responses, DOM state changes, and execution context information logged to </a:t>
            </a:r>
            <a:r>
              <a:rPr lang="en-US" sz="1050">
                <a:solidFill>
                  <a:srgbClr val="2C32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xss_results</a:t>
            </a:r>
            <a:r>
              <a:rPr i="0" lang="en-US" sz="1050" cap="none" strike="noStrike">
                <a:solidFill>
                  <a:srgbClr val="2C32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.json</a:t>
            </a:r>
            <a:endParaRPr i="0" sz="1050" cap="none" strike="noStrike"/>
          </a:p>
        </p:txBody>
      </p:sp>
      <p:sp>
        <p:nvSpPr>
          <p:cNvPr id="219" name="Google Shape;219;p17"/>
          <p:cNvSpPr/>
          <p:nvPr/>
        </p:nvSpPr>
        <p:spPr>
          <a:xfrm>
            <a:off x="485537" y="7128510"/>
            <a:ext cx="13659326" cy="589359"/>
          </a:xfrm>
          <a:prstGeom prst="roundRect">
            <a:avLst>
              <a:gd fmla="val 9887" name="adj"/>
            </a:avLst>
          </a:prstGeom>
          <a:solidFill>
            <a:srgbClr val="CFE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7"/>
          <p:cNvSpPr/>
          <p:nvPr/>
        </p:nvSpPr>
        <p:spPr>
          <a:xfrm>
            <a:off x="936308" y="7301865"/>
            <a:ext cx="13069848" cy="2219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Martel Sans"/>
              <a:buNone/>
            </a:pPr>
            <a:r>
              <a:rPr i="0" lang="en-US" sz="1050" cap="none" strike="noStrike">
                <a:solidFill>
                  <a:srgbClr val="000000"/>
                </a:solidFill>
                <a:latin typeface="Martel Sans"/>
                <a:ea typeface="Martel Sans"/>
                <a:cs typeface="Martel Sans"/>
                <a:sym typeface="Martel Sans"/>
              </a:rPr>
              <a:t>Security Recommendations: Implement output encoding, strict input validation, Content Security Policy headers, and avoid direct reflection of user-supplied data in application responses.</a:t>
            </a:r>
            <a:endParaRPr i="0" sz="1050" cap="none" strike="noStrike"/>
          </a:p>
        </p:txBody>
      </p:sp>
      <p:sp>
        <p:nvSpPr>
          <p:cNvPr id="221" name="Google Shape;221;p17"/>
          <p:cNvSpPr txBox="1"/>
          <p:nvPr/>
        </p:nvSpPr>
        <p:spPr>
          <a:xfrm>
            <a:off x="12659675" y="7760999"/>
            <a:ext cx="1860300" cy="36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8"/>
          <p:cNvSpPr/>
          <p:nvPr/>
        </p:nvSpPr>
        <p:spPr>
          <a:xfrm>
            <a:off x="644962" y="506730"/>
            <a:ext cx="983575" cy="346234"/>
          </a:xfrm>
          <a:prstGeom prst="roundRect">
            <a:avLst>
              <a:gd fmla="val 17886" name="adj"/>
            </a:avLst>
          </a:prstGeom>
          <a:solidFill>
            <a:srgbClr val="DFEC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8" name="Google Shape;22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452" y="606147"/>
            <a:ext cx="147399" cy="147399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8"/>
          <p:cNvSpPr/>
          <p:nvPr/>
        </p:nvSpPr>
        <p:spPr>
          <a:xfrm>
            <a:off x="976549" y="561975"/>
            <a:ext cx="12903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150"/>
              <a:buFont typeface="Martel Sans"/>
              <a:buNone/>
            </a:pPr>
            <a:r>
              <a:rPr b="0" i="0" lang="en-US" sz="11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WEEK 5</a:t>
            </a:r>
            <a:endParaRPr b="0" i="0" sz="1150" u="none" cap="none" strike="noStrike"/>
          </a:p>
        </p:txBody>
      </p:sp>
      <p:sp>
        <p:nvSpPr>
          <p:cNvPr id="230" name="Google Shape;230;p18"/>
          <p:cNvSpPr/>
          <p:nvPr/>
        </p:nvSpPr>
        <p:spPr>
          <a:xfrm>
            <a:off x="644950" y="931550"/>
            <a:ext cx="97095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3600"/>
              <a:buFont typeface="Kanit"/>
              <a:buNone/>
            </a:pPr>
            <a:r>
              <a:rPr b="0" i="0" lang="en-US" sz="3600" u="none" cap="none" strike="noStrike">
                <a:solidFill>
                  <a:srgbClr val="272D45"/>
                </a:solidFill>
                <a:latin typeface="Kanit"/>
                <a:ea typeface="Kanit"/>
                <a:cs typeface="Kanit"/>
                <a:sym typeface="Kanit"/>
              </a:rPr>
              <a:t>Authentication &amp; Session Security Assessment</a:t>
            </a:r>
            <a:endParaRPr b="0" i="0" sz="3600" u="none" cap="none" strike="noStrike"/>
          </a:p>
        </p:txBody>
      </p:sp>
      <p:sp>
        <p:nvSpPr>
          <p:cNvPr id="231" name="Google Shape;231;p18"/>
          <p:cNvSpPr/>
          <p:nvPr/>
        </p:nvSpPr>
        <p:spPr>
          <a:xfrm>
            <a:off x="644962" y="1893639"/>
            <a:ext cx="23037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800"/>
              <a:buFont typeface="Kanit"/>
              <a:buNone/>
            </a:pPr>
            <a:r>
              <a:rPr b="0" i="0" lang="en-US" sz="180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Weak Credentials</a:t>
            </a:r>
            <a:endParaRPr b="0" i="0" sz="1800" u="none" cap="none" strike="noStrike"/>
          </a:p>
        </p:txBody>
      </p:sp>
      <p:sp>
        <p:nvSpPr>
          <p:cNvPr id="232" name="Google Shape;232;p18"/>
          <p:cNvSpPr/>
          <p:nvPr/>
        </p:nvSpPr>
        <p:spPr>
          <a:xfrm>
            <a:off x="644962" y="2292022"/>
            <a:ext cx="3162300" cy="8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450"/>
              <a:buFont typeface="Martel Sans"/>
              <a:buNone/>
            </a:pPr>
            <a:r>
              <a:rPr b="0" i="0" lang="en-US" sz="14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Testing default passwords such as admin/password and bee/bug across authentication endpoints</a:t>
            </a:r>
            <a:endParaRPr b="0" i="0" sz="1450" u="none" cap="none" strike="noStrike"/>
          </a:p>
        </p:txBody>
      </p:sp>
      <p:sp>
        <p:nvSpPr>
          <p:cNvPr id="233" name="Google Shape;233;p18"/>
          <p:cNvSpPr/>
          <p:nvPr/>
        </p:nvSpPr>
        <p:spPr>
          <a:xfrm>
            <a:off x="4037650" y="1893648"/>
            <a:ext cx="27645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800"/>
              <a:buFont typeface="Kanit"/>
              <a:buNone/>
            </a:pPr>
            <a:r>
              <a:rPr b="0" i="0" lang="en-US" sz="180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Brute-Force Simulation</a:t>
            </a:r>
            <a:endParaRPr b="0" i="0" sz="1800" u="none" cap="none" strike="noStrike"/>
          </a:p>
        </p:txBody>
      </p:sp>
      <p:sp>
        <p:nvSpPr>
          <p:cNvPr id="234" name="Google Shape;234;p18"/>
          <p:cNvSpPr/>
          <p:nvPr/>
        </p:nvSpPr>
        <p:spPr>
          <a:xfrm>
            <a:off x="4037648" y="2292022"/>
            <a:ext cx="3162300" cy="8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450"/>
              <a:buFont typeface="Martel Sans"/>
              <a:buNone/>
            </a:pPr>
            <a:r>
              <a:rPr b="0" i="0" lang="en-US" sz="14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Evaluating rate limiting and account lockout mechanisms through repeated login attempts</a:t>
            </a:r>
            <a:endParaRPr b="0" i="0" sz="1450" u="none" cap="none" strike="noStrike"/>
          </a:p>
        </p:txBody>
      </p:sp>
      <p:sp>
        <p:nvSpPr>
          <p:cNvPr id="235" name="Google Shape;235;p18"/>
          <p:cNvSpPr/>
          <p:nvPr/>
        </p:nvSpPr>
        <p:spPr>
          <a:xfrm>
            <a:off x="7430333" y="1893639"/>
            <a:ext cx="23037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800"/>
              <a:buFont typeface="Kanit"/>
              <a:buNone/>
            </a:pPr>
            <a:r>
              <a:rPr b="0" i="0" lang="en-US" sz="180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Cookie Inspection</a:t>
            </a:r>
            <a:endParaRPr b="0" i="0" sz="1800" u="none" cap="none" strike="noStrike"/>
          </a:p>
        </p:txBody>
      </p:sp>
      <p:sp>
        <p:nvSpPr>
          <p:cNvPr id="236" name="Google Shape;236;p18"/>
          <p:cNvSpPr/>
          <p:nvPr/>
        </p:nvSpPr>
        <p:spPr>
          <a:xfrm>
            <a:off x="7430333" y="2292022"/>
            <a:ext cx="31623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450"/>
              <a:buFont typeface="Martel Sans"/>
              <a:buNone/>
            </a:pPr>
            <a:r>
              <a:rPr b="0" i="0" lang="en-US" sz="14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Verification of Secure and HttpOnly flags on session tokens</a:t>
            </a:r>
            <a:endParaRPr b="0" i="0" sz="1450" u="none" cap="none" strike="noStrike"/>
          </a:p>
        </p:txBody>
      </p:sp>
      <p:sp>
        <p:nvSpPr>
          <p:cNvPr id="237" name="Google Shape;237;p18"/>
          <p:cNvSpPr/>
          <p:nvPr/>
        </p:nvSpPr>
        <p:spPr>
          <a:xfrm>
            <a:off x="10823019" y="1893639"/>
            <a:ext cx="23037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800"/>
              <a:buFont typeface="Kanit"/>
              <a:buNone/>
            </a:pPr>
            <a:r>
              <a:rPr b="0" i="0" lang="en-US" sz="180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Session Fixation</a:t>
            </a:r>
            <a:endParaRPr b="0" i="0" sz="1800" u="none" cap="none" strike="noStrike"/>
          </a:p>
        </p:txBody>
      </p:sp>
      <p:sp>
        <p:nvSpPr>
          <p:cNvPr id="238" name="Google Shape;238;p18"/>
          <p:cNvSpPr/>
          <p:nvPr/>
        </p:nvSpPr>
        <p:spPr>
          <a:xfrm>
            <a:off x="10823019" y="2292022"/>
            <a:ext cx="3162300" cy="8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450"/>
              <a:buFont typeface="Martel Sans"/>
              <a:buNone/>
            </a:pPr>
            <a:r>
              <a:rPr b="0" i="0" lang="en-US" sz="14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Comparing session identifiers before and after authentication events</a:t>
            </a:r>
            <a:endParaRPr b="0" i="0" sz="1450" u="none" cap="none" strike="noStrike"/>
          </a:p>
        </p:txBody>
      </p:sp>
      <p:sp>
        <p:nvSpPr>
          <p:cNvPr id="239" name="Google Shape;239;p18"/>
          <p:cNvSpPr/>
          <p:nvPr/>
        </p:nvSpPr>
        <p:spPr>
          <a:xfrm>
            <a:off x="644962" y="3779043"/>
            <a:ext cx="13340477" cy="30599"/>
          </a:xfrm>
          <a:prstGeom prst="rect">
            <a:avLst/>
          </a:prstGeom>
          <a:solidFill>
            <a:srgbClr val="2C3249">
              <a:alpha val="4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8"/>
          <p:cNvSpPr/>
          <p:nvPr/>
        </p:nvSpPr>
        <p:spPr>
          <a:xfrm>
            <a:off x="644946" y="4085875"/>
            <a:ext cx="35802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2150"/>
              <a:buFont typeface="Kanit"/>
              <a:buNone/>
            </a:pPr>
            <a:r>
              <a:rPr b="0" i="0" lang="en-US" sz="2150" u="none" cap="none" strike="noStrike">
                <a:solidFill>
                  <a:srgbClr val="272D45"/>
                </a:solidFill>
                <a:latin typeface="Kanit"/>
                <a:ea typeface="Kanit"/>
                <a:cs typeface="Kanit"/>
                <a:sym typeface="Kanit"/>
              </a:rPr>
              <a:t>Severity Classification</a:t>
            </a:r>
            <a:endParaRPr b="0" i="0" sz="2150" u="none" cap="none" strike="noStrike"/>
          </a:p>
        </p:txBody>
      </p:sp>
      <p:sp>
        <p:nvSpPr>
          <p:cNvPr id="241" name="Google Shape;241;p18"/>
          <p:cNvSpPr/>
          <p:nvPr/>
        </p:nvSpPr>
        <p:spPr>
          <a:xfrm>
            <a:off x="644962" y="4891921"/>
            <a:ext cx="2303740" cy="2878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1800"/>
              <a:buFont typeface="Kanit"/>
              <a:buNone/>
            </a:pPr>
            <a:r>
              <a:rPr b="0" i="0" lang="en-US" sz="1800" u="none" cap="none" strike="noStrike">
                <a:solidFill>
                  <a:srgbClr val="272D45"/>
                </a:solidFill>
                <a:latin typeface="Kanit"/>
                <a:ea typeface="Kanit"/>
                <a:cs typeface="Kanit"/>
                <a:sym typeface="Kanit"/>
              </a:rPr>
              <a:t>High Severity Issues</a:t>
            </a:r>
            <a:endParaRPr b="0" i="0" sz="1800" u="none" cap="none" strike="noStrike"/>
          </a:p>
        </p:txBody>
      </p:sp>
      <p:sp>
        <p:nvSpPr>
          <p:cNvPr id="242" name="Google Shape;242;p18"/>
          <p:cNvSpPr/>
          <p:nvPr/>
        </p:nvSpPr>
        <p:spPr>
          <a:xfrm>
            <a:off x="644962" y="5364004"/>
            <a:ext cx="6445448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450"/>
              <a:buFont typeface="Martel Sans"/>
              <a:buChar char="•"/>
            </a:pPr>
            <a:r>
              <a:rPr b="0" i="0" lang="en-US" sz="14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Default credentials accepted in production context</a:t>
            </a:r>
            <a:endParaRPr b="0" i="0" sz="1450" u="none" cap="none" strike="noStrike"/>
          </a:p>
        </p:txBody>
      </p:sp>
      <p:sp>
        <p:nvSpPr>
          <p:cNvPr id="243" name="Google Shape;243;p18"/>
          <p:cNvSpPr/>
          <p:nvPr/>
        </p:nvSpPr>
        <p:spPr>
          <a:xfrm>
            <a:off x="644962" y="5723215"/>
            <a:ext cx="6445448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450"/>
              <a:buFont typeface="Martel Sans"/>
              <a:buChar char="•"/>
            </a:pPr>
            <a:r>
              <a:rPr b="0" i="0" lang="en-US" sz="14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Credentials transmitted over unencrypted connections</a:t>
            </a:r>
            <a:endParaRPr b="0" i="0" sz="1450" u="none" cap="none" strike="noStrike"/>
          </a:p>
        </p:txBody>
      </p:sp>
      <p:sp>
        <p:nvSpPr>
          <p:cNvPr id="244" name="Google Shape;244;p18"/>
          <p:cNvSpPr/>
          <p:nvPr/>
        </p:nvSpPr>
        <p:spPr>
          <a:xfrm>
            <a:off x="644962" y="6082427"/>
            <a:ext cx="6445448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450"/>
              <a:buFont typeface="Martel Sans"/>
              <a:buChar char="•"/>
            </a:pPr>
            <a:r>
              <a:rPr b="0" i="0" lang="en-US" sz="14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Predictable session token generation</a:t>
            </a:r>
            <a:endParaRPr b="0" i="0" sz="1450" u="none" cap="none" strike="noStrike"/>
          </a:p>
        </p:txBody>
      </p:sp>
      <p:sp>
        <p:nvSpPr>
          <p:cNvPr id="245" name="Google Shape;245;p18"/>
          <p:cNvSpPr/>
          <p:nvPr/>
        </p:nvSpPr>
        <p:spPr>
          <a:xfrm>
            <a:off x="7547597" y="4891925"/>
            <a:ext cx="3045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1800"/>
              <a:buFont typeface="Kanit"/>
              <a:buNone/>
            </a:pPr>
            <a:r>
              <a:rPr b="0" i="0" lang="en-US" sz="1800" u="none" cap="none" strike="noStrike">
                <a:solidFill>
                  <a:srgbClr val="272D45"/>
                </a:solidFill>
                <a:latin typeface="Kanit"/>
                <a:ea typeface="Kanit"/>
                <a:cs typeface="Kanit"/>
                <a:sym typeface="Kanit"/>
              </a:rPr>
              <a:t>Medium Severity Issues</a:t>
            </a:r>
            <a:endParaRPr b="0" i="0" sz="1800" u="none" cap="none" strike="noStrike"/>
          </a:p>
        </p:txBody>
      </p:sp>
      <p:sp>
        <p:nvSpPr>
          <p:cNvPr id="246" name="Google Shape;246;p18"/>
          <p:cNvSpPr/>
          <p:nvPr/>
        </p:nvSpPr>
        <p:spPr>
          <a:xfrm>
            <a:off x="7547610" y="5364004"/>
            <a:ext cx="6445448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450"/>
              <a:buFont typeface="Martel Sans"/>
              <a:buChar char="•"/>
            </a:pPr>
            <a:r>
              <a:rPr b="0" i="0" lang="en-US" sz="14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Absence of rate limiting on login endpoints</a:t>
            </a:r>
            <a:endParaRPr b="0" i="0" sz="1450" u="none" cap="none" strike="noStrike"/>
          </a:p>
        </p:txBody>
      </p:sp>
      <p:sp>
        <p:nvSpPr>
          <p:cNvPr id="247" name="Google Shape;247;p18"/>
          <p:cNvSpPr/>
          <p:nvPr/>
        </p:nvSpPr>
        <p:spPr>
          <a:xfrm>
            <a:off x="7547610" y="5723215"/>
            <a:ext cx="6445448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450"/>
              <a:buFont typeface="Martel Sans"/>
              <a:buChar char="•"/>
            </a:pPr>
            <a:r>
              <a:rPr b="0" i="0" lang="en-US" sz="14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Session fixation vulnerabilities</a:t>
            </a:r>
            <a:endParaRPr b="0" i="0" sz="1450" u="none" cap="none" strike="noStrike"/>
          </a:p>
        </p:txBody>
      </p:sp>
      <p:sp>
        <p:nvSpPr>
          <p:cNvPr id="248" name="Google Shape;248;p18"/>
          <p:cNvSpPr/>
          <p:nvPr/>
        </p:nvSpPr>
        <p:spPr>
          <a:xfrm>
            <a:off x="7547610" y="6082427"/>
            <a:ext cx="6445448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450"/>
              <a:buFont typeface="Martel Sans"/>
              <a:buChar char="•"/>
            </a:pPr>
            <a:r>
              <a:rPr b="0" i="0" lang="en-US" sz="14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Missing HttpOnly or Secure cookie attributes</a:t>
            </a:r>
            <a:endParaRPr b="0" i="0" sz="1450" u="none" cap="none" strike="noStrike"/>
          </a:p>
        </p:txBody>
      </p:sp>
      <p:sp>
        <p:nvSpPr>
          <p:cNvPr id="249" name="Google Shape;249;p18"/>
          <p:cNvSpPr/>
          <p:nvPr/>
        </p:nvSpPr>
        <p:spPr>
          <a:xfrm>
            <a:off x="644962" y="6648926"/>
            <a:ext cx="13340477" cy="1077635"/>
          </a:xfrm>
          <a:prstGeom prst="roundRect">
            <a:avLst>
              <a:gd fmla="val 7183" name="adj"/>
            </a:avLst>
          </a:prstGeom>
          <a:solidFill>
            <a:srgbClr val="CFE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0" name="Google Shape;25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9151" y="6908363"/>
            <a:ext cx="230267" cy="18419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8"/>
          <p:cNvSpPr/>
          <p:nvPr/>
        </p:nvSpPr>
        <p:spPr>
          <a:xfrm>
            <a:off x="1243608" y="6879074"/>
            <a:ext cx="12557641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6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Martel Sans"/>
              <a:buNone/>
            </a:pPr>
            <a:r>
              <a:rPr b="1" i="0" lang="en-US" sz="1450" u="none" cap="none" strike="noStrike">
                <a:solidFill>
                  <a:srgbClr val="000000"/>
                </a:solidFill>
                <a:latin typeface="Martel Sans"/>
                <a:ea typeface="Martel Sans"/>
                <a:cs typeface="Martel Sans"/>
                <a:sym typeface="Martel Sans"/>
              </a:rPr>
              <a:t>Key Recommendations:</a:t>
            </a:r>
            <a:r>
              <a:rPr b="0" i="0" lang="en-US" sz="1450" u="none" cap="none" strike="noStrike">
                <a:solidFill>
                  <a:srgbClr val="000000"/>
                </a:solidFill>
                <a:latin typeface="Martel Sans"/>
                <a:ea typeface="Martel Sans"/>
                <a:cs typeface="Martel Sans"/>
                <a:sym typeface="Martel Sans"/>
              </a:rPr>
              <a:t> Enforce HTTPS, regenerate session IDs post-authentication, implement account lockout mechanisms, and eliminate default credentials from all deployment environments.</a:t>
            </a:r>
            <a:endParaRPr b="0" i="0" sz="1450" u="none" cap="none" strike="noStrike"/>
          </a:p>
        </p:txBody>
      </p:sp>
      <p:sp>
        <p:nvSpPr>
          <p:cNvPr id="252" name="Google Shape;252;p18"/>
          <p:cNvSpPr txBox="1"/>
          <p:nvPr/>
        </p:nvSpPr>
        <p:spPr>
          <a:xfrm>
            <a:off x="12659675" y="7760999"/>
            <a:ext cx="1860300" cy="36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9"/>
          <p:cNvSpPr/>
          <p:nvPr/>
        </p:nvSpPr>
        <p:spPr>
          <a:xfrm>
            <a:off x="396835" y="327184"/>
            <a:ext cx="605076" cy="213003"/>
          </a:xfrm>
          <a:prstGeom prst="roundRect">
            <a:avLst>
              <a:gd fmla="val 17890" name="adj"/>
            </a:avLst>
          </a:prstGeom>
          <a:solidFill>
            <a:srgbClr val="DFEC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9" name="Google Shape;25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820" y="388263"/>
            <a:ext cx="90726" cy="90726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9"/>
          <p:cNvSpPr/>
          <p:nvPr/>
        </p:nvSpPr>
        <p:spPr>
          <a:xfrm>
            <a:off x="600900" y="361125"/>
            <a:ext cx="10101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700"/>
              <a:buFont typeface="Martel Sans"/>
              <a:buNone/>
            </a:pPr>
            <a:r>
              <a:rPr b="0" i="0" lang="en-US" sz="7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WEEK 6</a:t>
            </a:r>
            <a:endParaRPr b="0" i="0" sz="700" u="none" cap="none" strike="noStrike"/>
          </a:p>
        </p:txBody>
      </p:sp>
      <p:sp>
        <p:nvSpPr>
          <p:cNvPr id="261" name="Google Shape;261;p19"/>
          <p:cNvSpPr/>
          <p:nvPr/>
        </p:nvSpPr>
        <p:spPr>
          <a:xfrm>
            <a:off x="396825" y="478516"/>
            <a:ext cx="68217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2262"/>
              <a:buFont typeface="Kanit"/>
              <a:buNone/>
            </a:pPr>
            <a:r>
              <a:rPr b="0" i="0" lang="en-US" sz="2261" u="none" cap="none" strike="noStrike">
                <a:solidFill>
                  <a:srgbClr val="272D45"/>
                </a:solidFill>
                <a:latin typeface="Kanit"/>
                <a:ea typeface="Kanit"/>
                <a:cs typeface="Kanit"/>
                <a:sym typeface="Kanit"/>
              </a:rPr>
              <a:t>Access Control &amp; IDOR Vulnerability Testing</a:t>
            </a:r>
            <a:endParaRPr b="0" i="0" sz="2261" u="none" cap="none" strike="noStrike"/>
          </a:p>
        </p:txBody>
      </p:sp>
      <p:sp>
        <p:nvSpPr>
          <p:cNvPr id="262" name="Google Shape;262;p19"/>
          <p:cNvSpPr/>
          <p:nvPr/>
        </p:nvSpPr>
        <p:spPr>
          <a:xfrm>
            <a:off x="396838" y="1017617"/>
            <a:ext cx="14225700" cy="1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874"/>
              <a:buFont typeface="Martel Sans"/>
              <a:buNone/>
            </a:pPr>
            <a:r>
              <a:rPr b="0" i="0" lang="en-US" sz="873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Systematic evaluation of authorization mechanisms through authenticated parameter manipulation, identifying insecure direct object references and broken access controls.</a:t>
            </a:r>
            <a:endParaRPr b="0" i="0" sz="873" u="none" cap="none" strike="noStrike"/>
          </a:p>
        </p:txBody>
      </p:sp>
      <p:pic>
        <p:nvPicPr>
          <p:cNvPr descr="preencoded.png" id="263" name="Google Shape;26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6838" y="1510075"/>
            <a:ext cx="7054659" cy="1175144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19"/>
          <p:cNvSpPr/>
          <p:nvPr/>
        </p:nvSpPr>
        <p:spPr>
          <a:xfrm>
            <a:off x="510183" y="2048351"/>
            <a:ext cx="1417558" cy="177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100"/>
              <a:buFont typeface="Kanit"/>
              <a:buNone/>
            </a:pPr>
            <a:r>
              <a:rPr b="0" i="0" lang="en-US" sz="110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Authentication Setup</a:t>
            </a:r>
            <a:endParaRPr b="0" i="0" sz="1100" u="none" cap="none" strike="noStrike"/>
          </a:p>
        </p:txBody>
      </p:sp>
      <p:sp>
        <p:nvSpPr>
          <p:cNvPr id="265" name="Google Shape;265;p19"/>
          <p:cNvSpPr/>
          <p:nvPr/>
        </p:nvSpPr>
        <p:spPr>
          <a:xfrm>
            <a:off x="513373" y="2344845"/>
            <a:ext cx="6821700" cy="1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874"/>
              <a:buFont typeface="Martel Sans"/>
              <a:buNone/>
            </a:pPr>
            <a:r>
              <a:rPr b="0" i="0" lang="en-US" sz="873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Establish authenticated sessions with CSRF token extraction and security level configuration</a:t>
            </a:r>
            <a:endParaRPr b="0" i="0" sz="873" u="none" cap="none" strike="noStrike"/>
          </a:p>
        </p:txBody>
      </p:sp>
      <p:pic>
        <p:nvPicPr>
          <p:cNvPr descr="preencoded.png" id="266" name="Google Shape;26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68031" y="1335273"/>
            <a:ext cx="7054659" cy="1175144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19"/>
          <p:cNvSpPr/>
          <p:nvPr/>
        </p:nvSpPr>
        <p:spPr>
          <a:xfrm>
            <a:off x="7684572" y="1801528"/>
            <a:ext cx="24231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131"/>
              <a:buFont typeface="Kanit"/>
              <a:buNone/>
            </a:pPr>
            <a:r>
              <a:rPr b="0" i="0" lang="en-US" sz="113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Parameter Identification</a:t>
            </a:r>
            <a:endParaRPr b="0" i="0" sz="1130" u="none" cap="none" strike="noStrike"/>
          </a:p>
        </p:txBody>
      </p:sp>
      <p:sp>
        <p:nvSpPr>
          <p:cNvPr id="268" name="Google Shape;268;p19"/>
          <p:cNvSpPr/>
          <p:nvPr/>
        </p:nvSpPr>
        <p:spPr>
          <a:xfrm>
            <a:off x="7684565" y="2053580"/>
            <a:ext cx="6821700" cy="1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874"/>
              <a:buFont typeface="Martel Sans"/>
              <a:buNone/>
            </a:pPr>
            <a:r>
              <a:rPr b="0" i="0" lang="en-US" sz="873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Extract object identifiers from URL query parameters, particularly ID-based references</a:t>
            </a:r>
            <a:endParaRPr b="0" i="0" sz="873" u="none" cap="none" strike="noStrike"/>
          </a:p>
        </p:txBody>
      </p:sp>
      <p:pic>
        <p:nvPicPr>
          <p:cNvPr descr="preencoded.png" id="269" name="Google Shape;26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6838" y="2822809"/>
            <a:ext cx="7054659" cy="1175144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19"/>
          <p:cNvSpPr/>
          <p:nvPr/>
        </p:nvSpPr>
        <p:spPr>
          <a:xfrm>
            <a:off x="510183" y="3325178"/>
            <a:ext cx="1417558" cy="177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100"/>
              <a:buFont typeface="Kanit"/>
              <a:buNone/>
            </a:pPr>
            <a:r>
              <a:rPr b="0" i="0" lang="en-US" sz="110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Systematic Mutation</a:t>
            </a:r>
            <a:endParaRPr b="0" i="0" sz="1100" u="none" cap="none" strike="noStrike"/>
          </a:p>
        </p:txBody>
      </p:sp>
      <p:sp>
        <p:nvSpPr>
          <p:cNvPr id="271" name="Google Shape;271;p19"/>
          <p:cNvSpPr/>
          <p:nvPr/>
        </p:nvSpPr>
        <p:spPr>
          <a:xfrm>
            <a:off x="513373" y="3638729"/>
            <a:ext cx="6821700" cy="1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874"/>
              <a:buFont typeface="Martel Sans"/>
              <a:buNone/>
            </a:pPr>
            <a:r>
              <a:rPr b="0" i="0" lang="en-US" sz="873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Modify identifiers using sequential values, high-range numbers, and non-existent references</a:t>
            </a:r>
            <a:endParaRPr b="0" i="0" sz="873" u="none" cap="none" strike="noStrike"/>
          </a:p>
        </p:txBody>
      </p:sp>
      <p:pic>
        <p:nvPicPr>
          <p:cNvPr descr="preencoded.png" id="272" name="Google Shape;27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68031" y="2648006"/>
            <a:ext cx="7054659" cy="1175143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19"/>
          <p:cNvSpPr/>
          <p:nvPr/>
        </p:nvSpPr>
        <p:spPr>
          <a:xfrm>
            <a:off x="7684565" y="3114269"/>
            <a:ext cx="1457400" cy="1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131"/>
              <a:buFont typeface="Kanit"/>
              <a:buNone/>
            </a:pPr>
            <a:r>
              <a:rPr b="0" i="0" lang="en-US" sz="113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Response Comparison</a:t>
            </a:r>
            <a:endParaRPr b="0" i="0" sz="1130" u="none" cap="none" strike="noStrike"/>
          </a:p>
        </p:txBody>
      </p:sp>
      <p:sp>
        <p:nvSpPr>
          <p:cNvPr id="274" name="Google Shape;274;p19"/>
          <p:cNvSpPr/>
          <p:nvPr/>
        </p:nvSpPr>
        <p:spPr>
          <a:xfrm>
            <a:off x="7684565" y="3366313"/>
            <a:ext cx="6821700" cy="1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874"/>
              <a:buFont typeface="Martel Sans"/>
              <a:buNone/>
            </a:pPr>
            <a:r>
              <a:rPr b="0" i="0" lang="en-US" sz="873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Analyse baseline versus manipulated responses to detect unauthorised data exposure</a:t>
            </a:r>
            <a:endParaRPr b="0" i="0" sz="873" u="none" cap="none" strike="noStrike"/>
          </a:p>
        </p:txBody>
      </p:sp>
      <p:sp>
        <p:nvSpPr>
          <p:cNvPr id="275" name="Google Shape;275;p19"/>
          <p:cNvSpPr/>
          <p:nvPr/>
        </p:nvSpPr>
        <p:spPr>
          <a:xfrm>
            <a:off x="396838" y="4033592"/>
            <a:ext cx="14225700" cy="22500"/>
          </a:xfrm>
          <a:prstGeom prst="rect">
            <a:avLst/>
          </a:prstGeom>
          <a:solidFill>
            <a:srgbClr val="2C3249">
              <a:alpha val="49803"/>
            </a:srgbClr>
          </a:solidFill>
          <a:ln>
            <a:noFill/>
          </a:ln>
        </p:spPr>
        <p:txBody>
          <a:bodyPr anchorCtr="0" anchor="ctr" bIns="94000" lIns="94000" spcFirstLastPara="1" rIns="94000" wrap="square" tIns="94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9"/>
          <p:cNvSpPr/>
          <p:nvPr/>
        </p:nvSpPr>
        <p:spPr>
          <a:xfrm>
            <a:off x="396838" y="4158891"/>
            <a:ext cx="2224200" cy="2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1337"/>
              <a:buFont typeface="Kanit"/>
              <a:buNone/>
            </a:pPr>
            <a:r>
              <a:rPr b="0" i="0" lang="en-US" sz="1336" u="none" cap="none" strike="noStrike">
                <a:solidFill>
                  <a:srgbClr val="272D45"/>
                </a:solidFill>
                <a:latin typeface="Kanit"/>
                <a:ea typeface="Kanit"/>
                <a:cs typeface="Kanit"/>
                <a:sym typeface="Kanit"/>
              </a:rPr>
              <a:t>IDOR Detection Methodology</a:t>
            </a:r>
            <a:endParaRPr b="0" i="0" sz="1336" u="none" cap="none" strike="noStrike"/>
          </a:p>
        </p:txBody>
      </p:sp>
      <p:sp>
        <p:nvSpPr>
          <p:cNvPr id="277" name="Google Shape;277;p19"/>
          <p:cNvSpPr/>
          <p:nvPr/>
        </p:nvSpPr>
        <p:spPr>
          <a:xfrm>
            <a:off x="396838" y="4621283"/>
            <a:ext cx="7696200" cy="1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874"/>
              <a:buFont typeface="Martel Sans"/>
              <a:buNone/>
            </a:pPr>
            <a:r>
              <a:rPr b="1" i="0" lang="en-US" sz="873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Testing approach:</a:t>
            </a:r>
            <a:r>
              <a:rPr b="0" i="0" lang="en-US" sz="873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 Operating under low-privileged authenticated context to simulate realistic attack scenarios</a:t>
            </a:r>
            <a:endParaRPr b="0" i="0" sz="873" u="none" cap="none" strike="noStrike"/>
          </a:p>
        </p:txBody>
      </p:sp>
      <p:sp>
        <p:nvSpPr>
          <p:cNvPr id="278" name="Google Shape;278;p19"/>
          <p:cNvSpPr/>
          <p:nvPr/>
        </p:nvSpPr>
        <p:spPr>
          <a:xfrm>
            <a:off x="396838" y="4912744"/>
            <a:ext cx="7696200" cy="1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874"/>
              <a:buFont typeface="Martel Sans"/>
              <a:buNone/>
            </a:pPr>
            <a:r>
              <a:rPr b="1" i="0" lang="en-US" sz="873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Vulnerability indicators:</a:t>
            </a:r>
            <a:endParaRPr b="0" i="0" sz="873" u="none" cap="none" strike="noStrike"/>
          </a:p>
        </p:txBody>
      </p:sp>
      <p:sp>
        <p:nvSpPr>
          <p:cNvPr id="279" name="Google Shape;279;p19"/>
          <p:cNvSpPr/>
          <p:nvPr/>
        </p:nvSpPr>
        <p:spPr>
          <a:xfrm>
            <a:off x="396838" y="5204203"/>
            <a:ext cx="7696200" cy="1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52543" lvl="0" marL="352543" marR="0" rtl="0" algn="l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874"/>
              <a:buFont typeface="Martel Sans"/>
              <a:buChar char="•"/>
            </a:pPr>
            <a:r>
              <a:rPr b="0" i="0" lang="en-US" sz="873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Exposure of user-specific data belonging to other accounts</a:t>
            </a:r>
            <a:endParaRPr b="0" i="0" sz="873" u="none" cap="none" strike="noStrike"/>
          </a:p>
        </p:txBody>
      </p:sp>
      <p:sp>
        <p:nvSpPr>
          <p:cNvPr id="280" name="Google Shape;280;p19"/>
          <p:cNvSpPr/>
          <p:nvPr/>
        </p:nvSpPr>
        <p:spPr>
          <a:xfrm>
            <a:off x="396838" y="5431520"/>
            <a:ext cx="7696200" cy="1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52543" lvl="0" marL="352543" marR="0" rtl="0" algn="l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874"/>
              <a:buFont typeface="Martel Sans"/>
              <a:buChar char="•"/>
            </a:pPr>
            <a:r>
              <a:rPr b="0" i="0" lang="en-US" sz="873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Content changes when object identifiers are modified</a:t>
            </a:r>
            <a:endParaRPr b="0" i="0" sz="873" u="none" cap="none" strike="noStrike"/>
          </a:p>
        </p:txBody>
      </p:sp>
      <p:sp>
        <p:nvSpPr>
          <p:cNvPr id="281" name="Google Shape;281;p19"/>
          <p:cNvSpPr/>
          <p:nvPr/>
        </p:nvSpPr>
        <p:spPr>
          <a:xfrm>
            <a:off x="396838" y="5658838"/>
            <a:ext cx="7696200" cy="1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52543" lvl="0" marL="352543" marR="0" rtl="0" algn="l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874"/>
              <a:buFont typeface="Martel Sans"/>
              <a:buChar char="•"/>
            </a:pPr>
            <a:r>
              <a:rPr b="0" i="0" lang="en-US" sz="873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Successful access to resources without proper ownership validation</a:t>
            </a:r>
            <a:endParaRPr b="0" i="0" sz="873" u="none" cap="none" strike="noStrike"/>
          </a:p>
        </p:txBody>
      </p:sp>
      <p:sp>
        <p:nvSpPr>
          <p:cNvPr id="282" name="Google Shape;282;p19"/>
          <p:cNvSpPr/>
          <p:nvPr/>
        </p:nvSpPr>
        <p:spPr>
          <a:xfrm>
            <a:off x="396838" y="5950297"/>
            <a:ext cx="76962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874"/>
              <a:buFont typeface="Martel Sans"/>
              <a:buNone/>
            </a:pPr>
            <a:r>
              <a:rPr b="1" i="0" lang="en-US" sz="873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Output artifacts:</a:t>
            </a:r>
            <a:r>
              <a:rPr b="0" i="0" lang="en-US" sz="873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 JSON vulnerability reports with affected endpoints, severity classifications, impact assessments, and detailed mitigation recommendations</a:t>
            </a:r>
            <a:endParaRPr b="0" i="0" sz="873" u="none" cap="none" strike="noStrike"/>
          </a:p>
        </p:txBody>
      </p:sp>
      <p:sp>
        <p:nvSpPr>
          <p:cNvPr id="283" name="Google Shape;283;p19"/>
          <p:cNvSpPr/>
          <p:nvPr/>
        </p:nvSpPr>
        <p:spPr>
          <a:xfrm>
            <a:off x="8079726" y="4395875"/>
            <a:ext cx="6245100" cy="749700"/>
          </a:xfrm>
          <a:prstGeom prst="roundRect">
            <a:avLst>
              <a:gd fmla="val 6533" name="adj"/>
            </a:avLst>
          </a:prstGeom>
          <a:solidFill>
            <a:srgbClr val="FFFFFF"/>
          </a:solidFill>
          <a:ln cap="flat" cmpd="sng" w="15650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000" lIns="94000" spcFirstLastPara="1" rIns="94000" wrap="square" tIns="94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9"/>
          <p:cNvSpPr/>
          <p:nvPr/>
        </p:nvSpPr>
        <p:spPr>
          <a:xfrm>
            <a:off x="8095395" y="4411544"/>
            <a:ext cx="466500" cy="718200"/>
          </a:xfrm>
          <a:prstGeom prst="roundRect">
            <a:avLst>
              <a:gd fmla="val 6469" name="adj"/>
            </a:avLst>
          </a:prstGeom>
          <a:solidFill>
            <a:srgbClr val="DFECE9"/>
          </a:solidFill>
          <a:ln>
            <a:noFill/>
          </a:ln>
        </p:spPr>
        <p:txBody>
          <a:bodyPr anchorCtr="0" anchor="ctr" bIns="94000" lIns="94000" spcFirstLastPara="1" rIns="94000" wrap="square" tIns="94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9"/>
          <p:cNvSpPr/>
          <p:nvPr/>
        </p:nvSpPr>
        <p:spPr>
          <a:xfrm>
            <a:off x="8237268" y="4661385"/>
            <a:ext cx="174900" cy="2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337"/>
              <a:buFont typeface="Kanit"/>
              <a:buNone/>
            </a:pPr>
            <a:r>
              <a:rPr b="0" i="0" lang="en-US" sz="1336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1</a:t>
            </a:r>
            <a:endParaRPr b="0" i="0" sz="1336" u="none" cap="none" strike="noStrike"/>
          </a:p>
        </p:txBody>
      </p:sp>
      <p:sp>
        <p:nvSpPr>
          <p:cNvPr id="286" name="Google Shape;286;p19"/>
          <p:cNvSpPr/>
          <p:nvPr/>
        </p:nvSpPr>
        <p:spPr>
          <a:xfrm>
            <a:off x="8678314" y="4528082"/>
            <a:ext cx="24231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131"/>
              <a:buFont typeface="Kanit"/>
              <a:buNone/>
            </a:pPr>
            <a:r>
              <a:rPr b="0" i="0" lang="en-US" sz="113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Role-Based Access Control</a:t>
            </a:r>
            <a:endParaRPr b="0" i="0" sz="1130" u="none" cap="none" strike="noStrike"/>
          </a:p>
        </p:txBody>
      </p:sp>
      <p:sp>
        <p:nvSpPr>
          <p:cNvPr id="287" name="Google Shape;287;p19"/>
          <p:cNvSpPr/>
          <p:nvPr/>
        </p:nvSpPr>
        <p:spPr>
          <a:xfrm>
            <a:off x="8678315" y="4826761"/>
            <a:ext cx="5514300" cy="1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874"/>
              <a:buFont typeface="Martel Sans"/>
              <a:buNone/>
            </a:pPr>
            <a:r>
              <a:rPr b="0" i="0" lang="en-US" sz="873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Implement RBAC frameworks</a:t>
            </a:r>
            <a:endParaRPr b="0" i="0" sz="873" u="none" cap="none" strike="noStrike"/>
          </a:p>
        </p:txBody>
      </p:sp>
      <p:sp>
        <p:nvSpPr>
          <p:cNvPr id="288" name="Google Shape;288;p19"/>
          <p:cNvSpPr/>
          <p:nvPr/>
        </p:nvSpPr>
        <p:spPr>
          <a:xfrm>
            <a:off x="8079726" y="5262054"/>
            <a:ext cx="6245100" cy="749700"/>
          </a:xfrm>
          <a:prstGeom prst="roundRect">
            <a:avLst>
              <a:gd fmla="val 6533" name="adj"/>
            </a:avLst>
          </a:prstGeom>
          <a:solidFill>
            <a:srgbClr val="FFFFFF"/>
          </a:solidFill>
          <a:ln cap="flat" cmpd="sng" w="15650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000" lIns="94000" spcFirstLastPara="1" rIns="94000" wrap="square" tIns="94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9"/>
          <p:cNvSpPr/>
          <p:nvPr/>
        </p:nvSpPr>
        <p:spPr>
          <a:xfrm>
            <a:off x="8095395" y="5277722"/>
            <a:ext cx="466500" cy="718200"/>
          </a:xfrm>
          <a:prstGeom prst="roundRect">
            <a:avLst>
              <a:gd fmla="val 6469" name="adj"/>
            </a:avLst>
          </a:prstGeom>
          <a:solidFill>
            <a:srgbClr val="DFECE9"/>
          </a:solidFill>
          <a:ln>
            <a:noFill/>
          </a:ln>
        </p:spPr>
        <p:txBody>
          <a:bodyPr anchorCtr="0" anchor="ctr" bIns="94000" lIns="94000" spcFirstLastPara="1" rIns="94000" wrap="square" tIns="94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9"/>
          <p:cNvSpPr/>
          <p:nvPr/>
        </p:nvSpPr>
        <p:spPr>
          <a:xfrm>
            <a:off x="8237268" y="5527563"/>
            <a:ext cx="174900" cy="2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337"/>
              <a:buFont typeface="Kanit"/>
              <a:buNone/>
            </a:pPr>
            <a:r>
              <a:rPr b="0" i="0" lang="en-US" sz="1336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2</a:t>
            </a:r>
            <a:endParaRPr b="0" i="0" sz="1336" u="none" cap="none" strike="noStrike"/>
          </a:p>
        </p:txBody>
      </p:sp>
      <p:sp>
        <p:nvSpPr>
          <p:cNvPr id="291" name="Google Shape;291;p19"/>
          <p:cNvSpPr/>
          <p:nvPr/>
        </p:nvSpPr>
        <p:spPr>
          <a:xfrm>
            <a:off x="8678315" y="5394258"/>
            <a:ext cx="1457400" cy="1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131"/>
              <a:buFont typeface="Kanit"/>
              <a:buNone/>
            </a:pPr>
            <a:r>
              <a:rPr b="0" i="0" lang="en-US" sz="113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Server-Side Checks</a:t>
            </a:r>
            <a:endParaRPr b="0" i="0" sz="1130" u="none" cap="none" strike="noStrike"/>
          </a:p>
        </p:txBody>
      </p:sp>
      <p:sp>
        <p:nvSpPr>
          <p:cNvPr id="292" name="Google Shape;292;p19"/>
          <p:cNvSpPr/>
          <p:nvPr/>
        </p:nvSpPr>
        <p:spPr>
          <a:xfrm>
            <a:off x="8678315" y="5692940"/>
            <a:ext cx="5514300" cy="1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874"/>
              <a:buFont typeface="Martel Sans"/>
              <a:buNone/>
            </a:pPr>
            <a:r>
              <a:rPr b="0" i="0" lang="en-US" sz="873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Enforce authorisation logic</a:t>
            </a:r>
            <a:endParaRPr b="0" i="0" sz="873" u="none" cap="none" strike="noStrike"/>
          </a:p>
        </p:txBody>
      </p:sp>
      <p:sp>
        <p:nvSpPr>
          <p:cNvPr id="293" name="Google Shape;293;p19"/>
          <p:cNvSpPr/>
          <p:nvPr/>
        </p:nvSpPr>
        <p:spPr>
          <a:xfrm>
            <a:off x="8079726" y="6128234"/>
            <a:ext cx="6245100" cy="749700"/>
          </a:xfrm>
          <a:prstGeom prst="roundRect">
            <a:avLst>
              <a:gd fmla="val 6533" name="adj"/>
            </a:avLst>
          </a:prstGeom>
          <a:solidFill>
            <a:srgbClr val="FFFFFF"/>
          </a:solidFill>
          <a:ln cap="flat" cmpd="sng" w="15650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000" lIns="94000" spcFirstLastPara="1" rIns="94000" wrap="square" tIns="94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9"/>
          <p:cNvSpPr/>
          <p:nvPr/>
        </p:nvSpPr>
        <p:spPr>
          <a:xfrm>
            <a:off x="8095395" y="6143902"/>
            <a:ext cx="466500" cy="718200"/>
          </a:xfrm>
          <a:prstGeom prst="roundRect">
            <a:avLst>
              <a:gd fmla="val 6469" name="adj"/>
            </a:avLst>
          </a:prstGeom>
          <a:solidFill>
            <a:srgbClr val="DFECE9"/>
          </a:solidFill>
          <a:ln>
            <a:noFill/>
          </a:ln>
        </p:spPr>
        <p:txBody>
          <a:bodyPr anchorCtr="0" anchor="ctr" bIns="94000" lIns="94000" spcFirstLastPara="1" rIns="94000" wrap="square" tIns="94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9"/>
          <p:cNvSpPr/>
          <p:nvPr/>
        </p:nvSpPr>
        <p:spPr>
          <a:xfrm>
            <a:off x="8237268" y="6393742"/>
            <a:ext cx="174900" cy="2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337"/>
              <a:buFont typeface="Kanit"/>
              <a:buNone/>
            </a:pPr>
            <a:r>
              <a:rPr b="0" i="0" lang="en-US" sz="1336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3</a:t>
            </a:r>
            <a:endParaRPr b="0" i="0" sz="1336" u="none" cap="none" strike="noStrike"/>
          </a:p>
        </p:txBody>
      </p:sp>
      <p:sp>
        <p:nvSpPr>
          <p:cNvPr id="296" name="Google Shape;296;p19"/>
          <p:cNvSpPr/>
          <p:nvPr/>
        </p:nvSpPr>
        <p:spPr>
          <a:xfrm>
            <a:off x="8678315" y="6260437"/>
            <a:ext cx="1457400" cy="1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131"/>
              <a:buFont typeface="Kanit"/>
              <a:buNone/>
            </a:pPr>
            <a:r>
              <a:rPr b="0" i="0" lang="en-US" sz="113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Indirect References</a:t>
            </a:r>
            <a:endParaRPr b="0" i="0" sz="1130" u="none" cap="none" strike="noStrike"/>
          </a:p>
        </p:txBody>
      </p:sp>
      <p:sp>
        <p:nvSpPr>
          <p:cNvPr id="297" name="Google Shape;297;p19"/>
          <p:cNvSpPr/>
          <p:nvPr/>
        </p:nvSpPr>
        <p:spPr>
          <a:xfrm>
            <a:off x="8678315" y="6559120"/>
            <a:ext cx="5514300" cy="1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874"/>
              <a:buFont typeface="Martel Sans"/>
              <a:buNone/>
            </a:pPr>
            <a:r>
              <a:rPr b="0" i="0" lang="en-US" sz="873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Use UUIDs instead of sequential IDs</a:t>
            </a:r>
            <a:endParaRPr b="0" i="0" sz="873" u="none" cap="none" strike="noStrike"/>
          </a:p>
        </p:txBody>
      </p:sp>
      <p:sp>
        <p:nvSpPr>
          <p:cNvPr id="298" name="Google Shape;298;p19"/>
          <p:cNvSpPr/>
          <p:nvPr/>
        </p:nvSpPr>
        <p:spPr>
          <a:xfrm>
            <a:off x="91316" y="7099193"/>
            <a:ext cx="13836600" cy="481800"/>
          </a:xfrm>
          <a:prstGeom prst="roundRect">
            <a:avLst>
              <a:gd fmla="val 9886" name="adj"/>
            </a:avLst>
          </a:prstGeom>
          <a:solidFill>
            <a:srgbClr val="CFE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9"/>
          <p:cNvSpPr/>
          <p:nvPr/>
        </p:nvSpPr>
        <p:spPr>
          <a:xfrm>
            <a:off x="332065" y="7180582"/>
            <a:ext cx="133551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Martel Sans"/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Martel Sans"/>
                <a:ea typeface="Martel Sans"/>
                <a:cs typeface="Martel Sans"/>
                <a:sym typeface="Martel Sans"/>
              </a:rPr>
              <a:t>Severity Rating:</a:t>
            </a:r>
            <a:r>
              <a:rPr b="0" i="0" lang="en-US" sz="1050" u="none" cap="none" strike="noStrike">
                <a:solidFill>
                  <a:srgbClr val="000000"/>
                </a:solidFill>
                <a:latin typeface="Martel Sans"/>
                <a:ea typeface="Martel Sans"/>
                <a:cs typeface="Martel Sans"/>
                <a:sym typeface="Martel Sans"/>
              </a:rPr>
              <a:t> Access control and IDOR vulnerabilities classified as </a:t>
            </a:r>
            <a:r>
              <a:rPr b="1" i="0" lang="en-US" sz="1050" u="none" cap="none" strike="noStrike">
                <a:solidFill>
                  <a:srgbClr val="000000"/>
                </a:solidFill>
                <a:latin typeface="Martel Sans"/>
                <a:ea typeface="Martel Sans"/>
                <a:cs typeface="Martel Sans"/>
                <a:sym typeface="Martel Sans"/>
              </a:rPr>
              <a:t>High severity</a:t>
            </a:r>
            <a:r>
              <a:rPr b="0" i="0" lang="en-US" sz="1050" u="none" cap="none" strike="noStrike">
                <a:solidFill>
                  <a:srgbClr val="000000"/>
                </a:solidFill>
                <a:latin typeface="Martel Sans"/>
                <a:ea typeface="Martel Sans"/>
                <a:cs typeface="Martel Sans"/>
                <a:sym typeface="Martel Sans"/>
              </a:rPr>
              <a:t> due to potential unauthorised data exposure and integrity compromise.</a:t>
            </a:r>
            <a:endParaRPr b="0" i="0" sz="1050" u="none" cap="none" strike="noStrike"/>
          </a:p>
        </p:txBody>
      </p:sp>
      <p:sp>
        <p:nvSpPr>
          <p:cNvPr id="300" name="Google Shape;300;p19"/>
          <p:cNvSpPr txBox="1"/>
          <p:nvPr/>
        </p:nvSpPr>
        <p:spPr>
          <a:xfrm>
            <a:off x="12659675" y="7760999"/>
            <a:ext cx="1860300" cy="36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0"/>
          <p:cNvSpPr/>
          <p:nvPr/>
        </p:nvSpPr>
        <p:spPr>
          <a:xfrm>
            <a:off x="464824" y="5098450"/>
            <a:ext cx="5554800" cy="729000"/>
          </a:xfrm>
          <a:prstGeom prst="roundRect">
            <a:avLst>
              <a:gd fmla="val 10033" name="adj"/>
            </a:avLst>
          </a:prstGeom>
          <a:solidFill>
            <a:srgbClr val="FFFFFF"/>
          </a:solidFill>
          <a:ln cap="flat" cmpd="sng" w="1522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307" name="Google Shape;307;p20"/>
          <p:cNvSpPr/>
          <p:nvPr/>
        </p:nvSpPr>
        <p:spPr>
          <a:xfrm>
            <a:off x="464824" y="6069363"/>
            <a:ext cx="5554800" cy="729000"/>
          </a:xfrm>
          <a:prstGeom prst="roundRect">
            <a:avLst>
              <a:gd fmla="val 10033" name="adj"/>
            </a:avLst>
          </a:prstGeom>
          <a:solidFill>
            <a:srgbClr val="FFFFFF"/>
          </a:solidFill>
          <a:ln cap="flat" cmpd="sng" w="1522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308" name="Google Shape;308;p20"/>
          <p:cNvSpPr/>
          <p:nvPr/>
        </p:nvSpPr>
        <p:spPr>
          <a:xfrm>
            <a:off x="464824" y="4181725"/>
            <a:ext cx="5554800" cy="729000"/>
          </a:xfrm>
          <a:prstGeom prst="roundRect">
            <a:avLst>
              <a:gd fmla="val 10033" name="adj"/>
            </a:avLst>
          </a:prstGeom>
          <a:solidFill>
            <a:srgbClr val="FFFFFF"/>
          </a:solidFill>
          <a:ln cap="flat" cmpd="sng" w="1522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309" name="Google Shape;309;p20"/>
          <p:cNvSpPr/>
          <p:nvPr/>
        </p:nvSpPr>
        <p:spPr>
          <a:xfrm>
            <a:off x="464824" y="3232738"/>
            <a:ext cx="5554800" cy="729000"/>
          </a:xfrm>
          <a:prstGeom prst="roundRect">
            <a:avLst>
              <a:gd fmla="val 10033" name="adj"/>
            </a:avLst>
          </a:prstGeom>
          <a:solidFill>
            <a:srgbClr val="FFFFFF"/>
          </a:solidFill>
          <a:ln cap="flat" cmpd="sng" w="1522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10" name="Google Shape;310;p20"/>
          <p:cNvSpPr/>
          <p:nvPr/>
        </p:nvSpPr>
        <p:spPr>
          <a:xfrm>
            <a:off x="396823" y="311825"/>
            <a:ext cx="738600" cy="264300"/>
          </a:xfrm>
          <a:prstGeom prst="roundRect">
            <a:avLst>
              <a:gd fmla="val 17890" name="adj"/>
            </a:avLst>
          </a:prstGeom>
          <a:solidFill>
            <a:srgbClr val="DFEC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1" name="Google Shape;31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820" y="372904"/>
            <a:ext cx="90726" cy="90726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0"/>
          <p:cNvSpPr/>
          <p:nvPr/>
        </p:nvSpPr>
        <p:spPr>
          <a:xfrm>
            <a:off x="600908" y="345758"/>
            <a:ext cx="333018" cy="1451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700"/>
              <a:buFont typeface="Martel Sans"/>
              <a:buNone/>
            </a:pPr>
            <a:r>
              <a:rPr b="0" i="0" lang="en-US" sz="7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WEEK 7</a:t>
            </a:r>
            <a:endParaRPr b="0" i="0" sz="700" u="none" cap="none" strike="noStrike"/>
          </a:p>
        </p:txBody>
      </p:sp>
      <p:sp>
        <p:nvSpPr>
          <p:cNvPr id="313" name="Google Shape;313;p20"/>
          <p:cNvSpPr/>
          <p:nvPr/>
        </p:nvSpPr>
        <p:spPr>
          <a:xfrm>
            <a:off x="396824" y="824275"/>
            <a:ext cx="5130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2200"/>
              <a:buFont typeface="Kanit"/>
              <a:buNone/>
            </a:pPr>
            <a:r>
              <a:rPr b="0" i="0" lang="en-US" sz="2200" u="none" cap="none" strike="noStrike">
                <a:solidFill>
                  <a:srgbClr val="272D45"/>
                </a:solidFill>
                <a:latin typeface="Kanit"/>
                <a:ea typeface="Kanit"/>
                <a:cs typeface="Kanit"/>
                <a:sym typeface="Kanit"/>
              </a:rPr>
              <a:t>AI-Driven Security Reporting System</a:t>
            </a:r>
            <a:endParaRPr b="0" i="0" sz="2200" u="none" cap="none" strike="noStrike"/>
          </a:p>
        </p:txBody>
      </p:sp>
      <p:sp>
        <p:nvSpPr>
          <p:cNvPr id="314" name="Google Shape;314;p20"/>
          <p:cNvSpPr/>
          <p:nvPr/>
        </p:nvSpPr>
        <p:spPr>
          <a:xfrm>
            <a:off x="-204531" y="1548075"/>
            <a:ext cx="25785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100"/>
              <a:buFont typeface="Kanit"/>
              <a:buNone/>
            </a:pPr>
            <a:r>
              <a:rPr b="0" i="0" lang="en-US" sz="130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Result Aggregation</a:t>
            </a:r>
            <a:endParaRPr b="0" i="0" sz="1300" u="none" cap="none" strike="noStrike"/>
          </a:p>
        </p:txBody>
      </p:sp>
      <p:sp>
        <p:nvSpPr>
          <p:cNvPr id="315" name="Google Shape;315;p20"/>
          <p:cNvSpPr/>
          <p:nvPr/>
        </p:nvSpPr>
        <p:spPr>
          <a:xfrm>
            <a:off x="-443403" y="1817633"/>
            <a:ext cx="43269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850"/>
              <a:buFont typeface="Martel Sans"/>
              <a:buNone/>
            </a:pPr>
            <a:r>
              <a:rPr b="0" i="0" lang="en-US" sz="10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Consolidate findings from all testing modules</a:t>
            </a:r>
            <a:endParaRPr b="0" i="0" sz="1050" u="none" cap="none" strike="noStrike"/>
          </a:p>
        </p:txBody>
      </p:sp>
      <p:sp>
        <p:nvSpPr>
          <p:cNvPr id="316" name="Google Shape;316;p20"/>
          <p:cNvSpPr/>
          <p:nvPr/>
        </p:nvSpPr>
        <p:spPr>
          <a:xfrm>
            <a:off x="4091713" y="2022010"/>
            <a:ext cx="14175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100"/>
              <a:buFont typeface="Kanit"/>
              <a:buNone/>
            </a:pPr>
            <a:r>
              <a:rPr b="0" i="0" lang="en-US" sz="130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AI Classification</a:t>
            </a:r>
            <a:endParaRPr b="0" i="0" sz="1300" u="none" cap="none" strike="noStrike"/>
          </a:p>
        </p:txBody>
      </p:sp>
      <p:sp>
        <p:nvSpPr>
          <p:cNvPr id="317" name="Google Shape;317;p20"/>
          <p:cNvSpPr/>
          <p:nvPr/>
        </p:nvSpPr>
        <p:spPr>
          <a:xfrm>
            <a:off x="4077138" y="2284459"/>
            <a:ext cx="43269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850"/>
              <a:buFont typeface="Martel Sans"/>
              <a:buNone/>
            </a:pPr>
            <a:r>
              <a:rPr b="0" i="0" lang="en-US" sz="10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Machine learning severity prediction</a:t>
            </a:r>
            <a:endParaRPr b="0" i="0" sz="1050" u="none" cap="none" strike="noStrike"/>
          </a:p>
        </p:txBody>
      </p:sp>
      <p:sp>
        <p:nvSpPr>
          <p:cNvPr id="318" name="Google Shape;318;p20"/>
          <p:cNvSpPr/>
          <p:nvPr/>
        </p:nvSpPr>
        <p:spPr>
          <a:xfrm>
            <a:off x="6229418" y="1539234"/>
            <a:ext cx="14175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100"/>
              <a:buFont typeface="Kanit"/>
              <a:buNone/>
            </a:pPr>
            <a:r>
              <a:rPr b="0" i="0" lang="en-US" sz="130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Risk Scoring</a:t>
            </a:r>
            <a:endParaRPr b="0" i="0" sz="1300" u="none" cap="none" strike="noStrike"/>
          </a:p>
        </p:txBody>
      </p:sp>
      <p:sp>
        <p:nvSpPr>
          <p:cNvPr id="319" name="Google Shape;319;p20"/>
          <p:cNvSpPr/>
          <p:nvPr/>
        </p:nvSpPr>
        <p:spPr>
          <a:xfrm>
            <a:off x="6229432" y="1802075"/>
            <a:ext cx="42702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850"/>
              <a:buFont typeface="Martel Sans"/>
              <a:buNone/>
            </a:pPr>
            <a:r>
              <a:rPr b="0" i="0" lang="en-US" sz="10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Normalised priority calculation</a:t>
            </a:r>
            <a:endParaRPr b="0" i="0" sz="1050" u="none" cap="none" strike="noStrike"/>
          </a:p>
        </p:txBody>
      </p:sp>
      <p:sp>
        <p:nvSpPr>
          <p:cNvPr id="320" name="Google Shape;320;p20"/>
          <p:cNvSpPr/>
          <p:nvPr/>
        </p:nvSpPr>
        <p:spPr>
          <a:xfrm>
            <a:off x="10678563" y="1572482"/>
            <a:ext cx="14175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100"/>
              <a:buFont typeface="Kanit"/>
              <a:buNone/>
            </a:pPr>
            <a:r>
              <a:rPr b="0" i="0" lang="en-US" sz="130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Recommendations</a:t>
            </a:r>
            <a:endParaRPr b="0" i="0" sz="1300" u="none" cap="none" strike="noStrike"/>
          </a:p>
        </p:txBody>
      </p:sp>
      <p:sp>
        <p:nvSpPr>
          <p:cNvPr id="321" name="Google Shape;321;p20"/>
          <p:cNvSpPr/>
          <p:nvPr/>
        </p:nvSpPr>
        <p:spPr>
          <a:xfrm>
            <a:off x="10678563" y="1817632"/>
            <a:ext cx="43269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850"/>
              <a:buFont typeface="Martel Sans"/>
              <a:buNone/>
            </a:pPr>
            <a:r>
              <a:rPr b="0" i="0" lang="en-US" sz="10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Automated mitigation guidance</a:t>
            </a:r>
            <a:endParaRPr b="0" i="0" sz="1050" u="none" cap="none" strike="noStrike"/>
          </a:p>
        </p:txBody>
      </p:sp>
      <p:sp>
        <p:nvSpPr>
          <p:cNvPr id="322" name="Google Shape;322;p20"/>
          <p:cNvSpPr/>
          <p:nvPr/>
        </p:nvSpPr>
        <p:spPr>
          <a:xfrm>
            <a:off x="8238319" y="2029998"/>
            <a:ext cx="15951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100"/>
              <a:buFont typeface="Kanit"/>
              <a:buNone/>
            </a:pPr>
            <a:r>
              <a:rPr b="0" i="0" lang="en-US" sz="130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Report Generation</a:t>
            </a:r>
            <a:endParaRPr b="0" i="0" sz="1300" u="none" cap="none" strike="noStrike"/>
          </a:p>
        </p:txBody>
      </p:sp>
      <p:sp>
        <p:nvSpPr>
          <p:cNvPr id="323" name="Google Shape;323;p20"/>
          <p:cNvSpPr/>
          <p:nvPr/>
        </p:nvSpPr>
        <p:spPr>
          <a:xfrm>
            <a:off x="7735826" y="2253725"/>
            <a:ext cx="23652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850"/>
              <a:buFont typeface="Martel Sans"/>
              <a:buNone/>
            </a:pPr>
            <a:r>
              <a:rPr b="0" i="0" lang="en-US" sz="10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Professional HTML output</a:t>
            </a:r>
            <a:endParaRPr b="0" i="0" sz="1050" u="none" cap="none" strike="noStrike"/>
          </a:p>
        </p:txBody>
      </p:sp>
      <p:sp>
        <p:nvSpPr>
          <p:cNvPr id="324" name="Google Shape;324;p20"/>
          <p:cNvSpPr/>
          <p:nvPr/>
        </p:nvSpPr>
        <p:spPr>
          <a:xfrm>
            <a:off x="464822" y="2697325"/>
            <a:ext cx="2578500" cy="2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1300"/>
              <a:buFont typeface="Kanit"/>
              <a:buNone/>
            </a:pPr>
            <a:r>
              <a:rPr b="0" i="0" lang="en-US" sz="1500" u="none" cap="none" strike="noStrike">
                <a:solidFill>
                  <a:srgbClr val="272D45"/>
                </a:solidFill>
                <a:latin typeface="Kanit"/>
                <a:ea typeface="Kanit"/>
                <a:cs typeface="Kanit"/>
                <a:sym typeface="Kanit"/>
              </a:rPr>
              <a:t>Machine Learning Pipeline</a:t>
            </a:r>
            <a:endParaRPr b="0" i="0" sz="1500" u="none" cap="none" strike="noStrike"/>
          </a:p>
        </p:txBody>
      </p:sp>
      <p:sp>
        <p:nvSpPr>
          <p:cNvPr id="325" name="Google Shape;325;p20"/>
          <p:cNvSpPr/>
          <p:nvPr/>
        </p:nvSpPr>
        <p:spPr>
          <a:xfrm>
            <a:off x="598435" y="3278572"/>
            <a:ext cx="14175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100"/>
              <a:buFont typeface="Kanit"/>
              <a:buNone/>
            </a:pPr>
            <a:r>
              <a:rPr b="0" i="0" lang="en-US" sz="130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Feature Extraction</a:t>
            </a:r>
            <a:endParaRPr b="0" i="0" sz="1300" u="none" cap="none" strike="noStrike"/>
          </a:p>
        </p:txBody>
      </p:sp>
      <p:sp>
        <p:nvSpPr>
          <p:cNvPr id="326" name="Google Shape;326;p20"/>
          <p:cNvSpPr/>
          <p:nvPr/>
        </p:nvSpPr>
        <p:spPr>
          <a:xfrm>
            <a:off x="598435" y="3608228"/>
            <a:ext cx="67800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850"/>
              <a:buFont typeface="Martel Sans"/>
              <a:buNone/>
            </a:pPr>
            <a:r>
              <a:rPr b="0" i="0" lang="en-US" sz="10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TF-IDF vectorisation of vulnerability descriptions and impact statements</a:t>
            </a:r>
            <a:endParaRPr b="0" i="0" sz="1050" u="none" cap="none" strike="noStrike"/>
          </a:p>
        </p:txBody>
      </p:sp>
      <p:sp>
        <p:nvSpPr>
          <p:cNvPr id="327" name="Google Shape;327;p20"/>
          <p:cNvSpPr/>
          <p:nvPr/>
        </p:nvSpPr>
        <p:spPr>
          <a:xfrm>
            <a:off x="598388" y="3988038"/>
            <a:ext cx="5370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850"/>
              <a:buFont typeface="Kanit"/>
              <a:buNone/>
            </a:pPr>
            <a:r>
              <a:rPr b="0" i="0" lang="en-US" sz="95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02</a:t>
            </a:r>
            <a:endParaRPr b="0" i="0" sz="950" u="none" cap="none" strike="noStrike"/>
          </a:p>
        </p:txBody>
      </p:sp>
      <p:sp>
        <p:nvSpPr>
          <p:cNvPr id="328" name="Google Shape;328;p20"/>
          <p:cNvSpPr/>
          <p:nvPr/>
        </p:nvSpPr>
        <p:spPr>
          <a:xfrm>
            <a:off x="598435" y="4252595"/>
            <a:ext cx="14175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100"/>
              <a:buFont typeface="Kanit"/>
              <a:buNone/>
            </a:pPr>
            <a:r>
              <a:rPr b="0" i="0" lang="en-US" sz="130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Model Training</a:t>
            </a:r>
            <a:endParaRPr b="0" i="0" sz="1300" u="none" cap="none" strike="noStrike"/>
          </a:p>
        </p:txBody>
      </p:sp>
      <p:sp>
        <p:nvSpPr>
          <p:cNvPr id="329" name="Google Shape;329;p20"/>
          <p:cNvSpPr/>
          <p:nvPr/>
        </p:nvSpPr>
        <p:spPr>
          <a:xfrm>
            <a:off x="598435" y="4543107"/>
            <a:ext cx="67800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850"/>
              <a:buFont typeface="Martel Sans"/>
              <a:buNone/>
            </a:pPr>
            <a:r>
              <a:rPr b="0" i="0" lang="en-US" sz="10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Logistic Regression trained on security-specific sample dataset</a:t>
            </a:r>
            <a:endParaRPr b="0" i="0" sz="1050" u="none" cap="none" strike="noStrike"/>
          </a:p>
        </p:txBody>
      </p:sp>
      <p:sp>
        <p:nvSpPr>
          <p:cNvPr id="330" name="Google Shape;330;p20"/>
          <p:cNvSpPr/>
          <p:nvPr/>
        </p:nvSpPr>
        <p:spPr>
          <a:xfrm>
            <a:off x="598379" y="4922912"/>
            <a:ext cx="605100" cy="1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850"/>
              <a:buFont typeface="Kanit"/>
              <a:buNone/>
            </a:pPr>
            <a:r>
              <a:rPr b="0" i="0" lang="en-US" sz="105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03</a:t>
            </a:r>
            <a:endParaRPr b="0" i="0" sz="1050" u="none" cap="none" strike="noStrike"/>
          </a:p>
        </p:txBody>
      </p:sp>
      <p:sp>
        <p:nvSpPr>
          <p:cNvPr id="331" name="Google Shape;331;p20"/>
          <p:cNvSpPr/>
          <p:nvPr/>
        </p:nvSpPr>
        <p:spPr>
          <a:xfrm>
            <a:off x="598420" y="5187475"/>
            <a:ext cx="20631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100"/>
              <a:buFont typeface="Kanit"/>
              <a:buNone/>
            </a:pPr>
            <a:r>
              <a:rPr b="0" i="0" lang="en-US" sz="130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Severity Prediction</a:t>
            </a:r>
            <a:endParaRPr b="0" i="0" sz="1300" u="none" cap="none" strike="noStrike"/>
          </a:p>
        </p:txBody>
      </p:sp>
      <p:sp>
        <p:nvSpPr>
          <p:cNvPr id="332" name="Google Shape;332;p20"/>
          <p:cNvSpPr/>
          <p:nvPr/>
        </p:nvSpPr>
        <p:spPr>
          <a:xfrm>
            <a:off x="598435" y="5477986"/>
            <a:ext cx="67800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850"/>
              <a:buFont typeface="Martel Sans"/>
              <a:buNone/>
            </a:pPr>
            <a:r>
              <a:rPr b="0" i="0" lang="en-US" sz="10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Automated classification into Low, Medium, High, and Critical categories</a:t>
            </a:r>
            <a:endParaRPr b="0" i="0" sz="1050" u="none" cap="none" strike="noStrike"/>
          </a:p>
        </p:txBody>
      </p:sp>
      <p:sp>
        <p:nvSpPr>
          <p:cNvPr id="333" name="Google Shape;333;p20"/>
          <p:cNvSpPr/>
          <p:nvPr/>
        </p:nvSpPr>
        <p:spPr>
          <a:xfrm>
            <a:off x="598384" y="5857788"/>
            <a:ext cx="605100" cy="1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850"/>
              <a:buFont typeface="Kanit"/>
              <a:buNone/>
            </a:pPr>
            <a:r>
              <a:rPr b="0" i="0" lang="en-US" sz="105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04</a:t>
            </a:r>
            <a:endParaRPr b="0" i="0" sz="1050" u="none" cap="none" strike="noStrike"/>
          </a:p>
        </p:txBody>
      </p:sp>
      <p:sp>
        <p:nvSpPr>
          <p:cNvPr id="334" name="Google Shape;334;p20"/>
          <p:cNvSpPr/>
          <p:nvPr/>
        </p:nvSpPr>
        <p:spPr>
          <a:xfrm>
            <a:off x="598422" y="6122350"/>
            <a:ext cx="18603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100"/>
              <a:buFont typeface="Kanit"/>
              <a:buNone/>
            </a:pPr>
            <a:r>
              <a:rPr b="0" i="0" lang="en-US" sz="130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Score Normalisation</a:t>
            </a:r>
            <a:endParaRPr b="0" i="0" sz="1300" u="none" cap="none" strike="noStrike"/>
          </a:p>
        </p:txBody>
      </p:sp>
      <p:sp>
        <p:nvSpPr>
          <p:cNvPr id="335" name="Google Shape;335;p20"/>
          <p:cNvSpPr/>
          <p:nvPr/>
        </p:nvSpPr>
        <p:spPr>
          <a:xfrm>
            <a:off x="598435" y="6412865"/>
            <a:ext cx="67800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850"/>
              <a:buFont typeface="Martel Sans"/>
              <a:buNone/>
            </a:pPr>
            <a:r>
              <a:rPr b="0" i="0" lang="en-US" sz="10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Min-Max scaling producing standardised risk values for prioritisation</a:t>
            </a:r>
            <a:endParaRPr b="0" i="0" sz="1050" u="none" cap="none" strike="noStrike"/>
          </a:p>
        </p:txBody>
      </p:sp>
      <p:sp>
        <p:nvSpPr>
          <p:cNvPr id="336" name="Google Shape;336;p20"/>
          <p:cNvSpPr/>
          <p:nvPr/>
        </p:nvSpPr>
        <p:spPr>
          <a:xfrm>
            <a:off x="6581221" y="2752959"/>
            <a:ext cx="1701300" cy="2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1300"/>
              <a:buFont typeface="Kanit"/>
              <a:buNone/>
            </a:pPr>
            <a:r>
              <a:rPr b="0" i="0" lang="en-US" sz="1500" u="none" cap="none" strike="noStrike">
                <a:solidFill>
                  <a:srgbClr val="272D45"/>
                </a:solidFill>
                <a:latin typeface="Kanit"/>
                <a:ea typeface="Kanit"/>
                <a:cs typeface="Kanit"/>
                <a:sym typeface="Kanit"/>
              </a:rPr>
              <a:t>Report Deliverables</a:t>
            </a:r>
            <a:endParaRPr b="0" i="0" sz="1500" u="none" cap="none" strike="noStrike"/>
          </a:p>
        </p:txBody>
      </p:sp>
      <p:sp>
        <p:nvSpPr>
          <p:cNvPr id="337" name="Google Shape;337;p20"/>
          <p:cNvSpPr/>
          <p:nvPr/>
        </p:nvSpPr>
        <p:spPr>
          <a:xfrm>
            <a:off x="6573548" y="3252671"/>
            <a:ext cx="6780000" cy="729000"/>
          </a:xfrm>
          <a:prstGeom prst="roundRect">
            <a:avLst>
              <a:gd fmla="val 10033" name="adj"/>
            </a:avLst>
          </a:prstGeom>
          <a:solidFill>
            <a:srgbClr val="FFFFFF"/>
          </a:solidFill>
          <a:ln cap="flat" cmpd="sng" w="1522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338" name="Google Shape;338;p20"/>
          <p:cNvSpPr/>
          <p:nvPr/>
        </p:nvSpPr>
        <p:spPr>
          <a:xfrm>
            <a:off x="6723124" y="3344200"/>
            <a:ext cx="17013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100"/>
              <a:buFont typeface="Kanit"/>
              <a:buNone/>
            </a:pPr>
            <a:r>
              <a:rPr b="0" i="0" lang="en-US" sz="130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Executive Summary</a:t>
            </a:r>
            <a:endParaRPr b="0" i="0" sz="1300" u="none" cap="none" strike="noStrike"/>
          </a:p>
        </p:txBody>
      </p:sp>
      <p:sp>
        <p:nvSpPr>
          <p:cNvPr id="339" name="Google Shape;339;p20"/>
          <p:cNvSpPr/>
          <p:nvPr/>
        </p:nvSpPr>
        <p:spPr>
          <a:xfrm>
            <a:off x="6725055" y="3639821"/>
            <a:ext cx="64770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850"/>
              <a:buFont typeface="Martel Sans"/>
              <a:buNone/>
            </a:pPr>
            <a:r>
              <a:rPr b="0" i="0" lang="en-US" sz="10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High-level overview with vulnerability counts and critical issue highlights</a:t>
            </a:r>
            <a:endParaRPr b="0" i="0" sz="1050" u="none" cap="none" strike="noStrike"/>
          </a:p>
        </p:txBody>
      </p:sp>
      <p:sp>
        <p:nvSpPr>
          <p:cNvPr id="340" name="Google Shape;340;p20"/>
          <p:cNvSpPr/>
          <p:nvPr/>
        </p:nvSpPr>
        <p:spPr>
          <a:xfrm>
            <a:off x="6573548" y="4223679"/>
            <a:ext cx="6780000" cy="729000"/>
          </a:xfrm>
          <a:prstGeom prst="roundRect">
            <a:avLst>
              <a:gd fmla="val 10033" name="adj"/>
            </a:avLst>
          </a:prstGeom>
          <a:solidFill>
            <a:srgbClr val="FFFFFF"/>
          </a:solidFill>
          <a:ln cap="flat" cmpd="sng" w="1522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341" name="Google Shape;341;p20"/>
          <p:cNvSpPr/>
          <p:nvPr/>
        </p:nvSpPr>
        <p:spPr>
          <a:xfrm>
            <a:off x="6723130" y="4401395"/>
            <a:ext cx="14175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100"/>
              <a:buFont typeface="Kanit"/>
              <a:buNone/>
            </a:pPr>
            <a:r>
              <a:rPr b="0" i="0" lang="en-US" sz="130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Detailed Findings</a:t>
            </a:r>
            <a:endParaRPr b="0" i="0" sz="1300" u="none" cap="none" strike="noStrike"/>
          </a:p>
        </p:txBody>
      </p:sp>
      <p:sp>
        <p:nvSpPr>
          <p:cNvPr id="342" name="Google Shape;342;p20"/>
          <p:cNvSpPr/>
          <p:nvPr/>
        </p:nvSpPr>
        <p:spPr>
          <a:xfrm>
            <a:off x="6725055" y="4639082"/>
            <a:ext cx="64770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850"/>
              <a:buFont typeface="Martel Sans"/>
              <a:buNone/>
            </a:pPr>
            <a:r>
              <a:rPr b="0" i="0" lang="en-US" sz="10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Complete vulnerability inventory with affected endpoints and evidence</a:t>
            </a:r>
            <a:endParaRPr b="0" i="0" sz="1050" u="none" cap="none" strike="noStrike"/>
          </a:p>
        </p:txBody>
      </p:sp>
      <p:sp>
        <p:nvSpPr>
          <p:cNvPr id="343" name="Google Shape;343;p20"/>
          <p:cNvSpPr/>
          <p:nvPr/>
        </p:nvSpPr>
        <p:spPr>
          <a:xfrm>
            <a:off x="6586610" y="5167768"/>
            <a:ext cx="6780000" cy="729000"/>
          </a:xfrm>
          <a:prstGeom prst="roundRect">
            <a:avLst>
              <a:gd fmla="val 10033" name="adj"/>
            </a:avLst>
          </a:prstGeom>
          <a:solidFill>
            <a:srgbClr val="FFFFFF"/>
          </a:solidFill>
          <a:ln cap="flat" cmpd="sng" w="1522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344" name="Google Shape;344;p20"/>
          <p:cNvSpPr/>
          <p:nvPr/>
        </p:nvSpPr>
        <p:spPr>
          <a:xfrm>
            <a:off x="6783830" y="5365531"/>
            <a:ext cx="14175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100"/>
              <a:buFont typeface="Kanit"/>
              <a:buNone/>
            </a:pPr>
            <a:r>
              <a:rPr b="0" i="0" lang="en-US" sz="130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Risk Analysis</a:t>
            </a:r>
            <a:endParaRPr b="0" i="0" sz="1300" u="none" cap="none" strike="noStrike"/>
          </a:p>
        </p:txBody>
      </p:sp>
      <p:sp>
        <p:nvSpPr>
          <p:cNvPr id="345" name="Google Shape;345;p20"/>
          <p:cNvSpPr/>
          <p:nvPr/>
        </p:nvSpPr>
        <p:spPr>
          <a:xfrm>
            <a:off x="6747855" y="5583043"/>
            <a:ext cx="64770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850"/>
              <a:buFont typeface="Martel Sans"/>
              <a:buNone/>
            </a:pPr>
            <a:r>
              <a:rPr b="0" i="0" lang="en-US" sz="10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AI-assigned severity levels and calculated risk scores</a:t>
            </a:r>
            <a:endParaRPr b="0" i="0" sz="1050" u="none" cap="none" strike="noStrike"/>
          </a:p>
        </p:txBody>
      </p:sp>
      <p:sp>
        <p:nvSpPr>
          <p:cNvPr id="346" name="Google Shape;346;p20"/>
          <p:cNvSpPr/>
          <p:nvPr/>
        </p:nvSpPr>
        <p:spPr>
          <a:xfrm>
            <a:off x="6573548" y="6087780"/>
            <a:ext cx="6780000" cy="729000"/>
          </a:xfrm>
          <a:prstGeom prst="roundRect">
            <a:avLst>
              <a:gd fmla="val 10033" name="adj"/>
            </a:avLst>
          </a:prstGeom>
          <a:solidFill>
            <a:srgbClr val="FFFFFF"/>
          </a:solidFill>
          <a:ln cap="flat" cmpd="sng" w="1522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347" name="Google Shape;347;p20"/>
          <p:cNvSpPr/>
          <p:nvPr/>
        </p:nvSpPr>
        <p:spPr>
          <a:xfrm>
            <a:off x="6723130" y="6250867"/>
            <a:ext cx="14175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100"/>
              <a:buFont typeface="Kanit"/>
              <a:buNone/>
            </a:pPr>
            <a:r>
              <a:rPr b="0" i="0" lang="en-US" sz="130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Remediation Plan</a:t>
            </a:r>
            <a:endParaRPr b="0" i="0" sz="1300" u="none" cap="none" strike="noStrike"/>
          </a:p>
        </p:txBody>
      </p:sp>
      <p:sp>
        <p:nvSpPr>
          <p:cNvPr id="348" name="Google Shape;348;p20"/>
          <p:cNvSpPr/>
          <p:nvPr/>
        </p:nvSpPr>
        <p:spPr>
          <a:xfrm>
            <a:off x="6738103" y="6496580"/>
            <a:ext cx="64770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850"/>
              <a:buFont typeface="Martel Sans"/>
              <a:buNone/>
            </a:pPr>
            <a:r>
              <a:rPr b="0" i="0" lang="en-US" sz="10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OWASP-aligned mitigation recommendations for each vulnerability type</a:t>
            </a:r>
            <a:endParaRPr b="0" i="0" sz="1050" u="none" cap="none" strike="noStrike"/>
          </a:p>
        </p:txBody>
      </p:sp>
      <p:sp>
        <p:nvSpPr>
          <p:cNvPr id="349" name="Google Shape;349;p20"/>
          <p:cNvSpPr/>
          <p:nvPr/>
        </p:nvSpPr>
        <p:spPr>
          <a:xfrm>
            <a:off x="555560" y="7136195"/>
            <a:ext cx="13836600" cy="481800"/>
          </a:xfrm>
          <a:prstGeom prst="roundRect">
            <a:avLst>
              <a:gd fmla="val 9886" name="adj"/>
            </a:avLst>
          </a:prstGeom>
          <a:solidFill>
            <a:srgbClr val="CFE2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0" name="Google Shape;35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8908" y="7293001"/>
            <a:ext cx="141684" cy="113348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20"/>
          <p:cNvSpPr/>
          <p:nvPr/>
        </p:nvSpPr>
        <p:spPr>
          <a:xfrm>
            <a:off x="923940" y="7277880"/>
            <a:ext cx="133551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Martel Sans"/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Martel Sans"/>
                <a:ea typeface="Martel Sans"/>
                <a:cs typeface="Martel Sans"/>
                <a:sym typeface="Martel Sans"/>
              </a:rPr>
              <a:t>Output Formats:</a:t>
            </a:r>
            <a:r>
              <a:rPr b="0" i="0" lang="en-US" sz="1050" u="none" cap="none" strike="noStrike">
                <a:solidFill>
                  <a:srgbClr val="000000"/>
                </a:solidFill>
                <a:latin typeface="Martel Sans"/>
                <a:ea typeface="Martel Sans"/>
                <a:cs typeface="Martel Sans"/>
                <a:sym typeface="Martel Sans"/>
              </a:rPr>
              <a:t> Structured JSON for programmatic analysis and professional HTML report suitable for technical and executive audiences.</a:t>
            </a:r>
            <a:endParaRPr b="0" i="0" sz="1050" u="none" cap="none" strike="noStrike"/>
          </a:p>
        </p:txBody>
      </p:sp>
      <p:sp>
        <p:nvSpPr>
          <p:cNvPr id="352" name="Google Shape;352;p20"/>
          <p:cNvSpPr txBox="1"/>
          <p:nvPr/>
        </p:nvSpPr>
        <p:spPr>
          <a:xfrm>
            <a:off x="12659675" y="7760999"/>
            <a:ext cx="1860300" cy="36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53" name="Google Shape;353;p20"/>
          <p:cNvCxnSpPr/>
          <p:nvPr/>
        </p:nvCxnSpPr>
        <p:spPr>
          <a:xfrm>
            <a:off x="2212230" y="1901900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1"/>
          <p:cNvSpPr/>
          <p:nvPr/>
        </p:nvSpPr>
        <p:spPr>
          <a:xfrm>
            <a:off x="471250" y="370275"/>
            <a:ext cx="52059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2650"/>
              <a:buFont typeface="Kanit"/>
              <a:buNone/>
            </a:pPr>
            <a:r>
              <a:rPr b="0" i="0" lang="en-US" sz="2650" u="none" cap="none" strike="noStrike">
                <a:solidFill>
                  <a:srgbClr val="272D45"/>
                </a:solidFill>
                <a:latin typeface="Kanit"/>
                <a:ea typeface="Kanit"/>
                <a:cs typeface="Kanit"/>
                <a:sym typeface="Kanit"/>
              </a:rPr>
              <a:t>Demonstration Results</a:t>
            </a:r>
            <a:endParaRPr b="0" i="0" sz="2650" u="none" cap="none" strike="noStrike"/>
          </a:p>
        </p:txBody>
      </p:sp>
      <p:sp>
        <p:nvSpPr>
          <p:cNvPr id="360" name="Google Shape;360;p21"/>
          <p:cNvSpPr/>
          <p:nvPr/>
        </p:nvSpPr>
        <p:spPr>
          <a:xfrm>
            <a:off x="7749311" y="1947818"/>
            <a:ext cx="16800" cy="5228100"/>
          </a:xfrm>
          <a:prstGeom prst="roundRect">
            <a:avLst>
              <a:gd fmla="val 371102" name="adj"/>
            </a:avLst>
          </a:prstGeom>
          <a:solidFill>
            <a:srgbClr val="C5D2CF"/>
          </a:solidFill>
          <a:ln>
            <a:noFill/>
          </a:ln>
        </p:spPr>
        <p:txBody>
          <a:bodyPr anchorCtr="0" anchor="ctr" bIns="101325" lIns="101325" spcFirstLastPara="1" rIns="101325" wrap="square" tIns="101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73"/>
          </a:p>
        </p:txBody>
      </p:sp>
      <p:sp>
        <p:nvSpPr>
          <p:cNvPr id="361" name="Google Shape;361;p21"/>
          <p:cNvSpPr/>
          <p:nvPr/>
        </p:nvSpPr>
        <p:spPr>
          <a:xfrm>
            <a:off x="7197997" y="1855007"/>
            <a:ext cx="461100" cy="17400"/>
          </a:xfrm>
          <a:prstGeom prst="roundRect">
            <a:avLst>
              <a:gd fmla="val 371102" name="adj"/>
            </a:avLst>
          </a:prstGeom>
          <a:solidFill>
            <a:srgbClr val="C5D2CF"/>
          </a:solidFill>
          <a:ln>
            <a:noFill/>
          </a:ln>
        </p:spPr>
        <p:txBody>
          <a:bodyPr anchorCtr="0" anchor="ctr" bIns="104350" lIns="104350" spcFirstLastPara="1" rIns="104350" wrap="square" tIns="104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26"/>
          </a:p>
        </p:txBody>
      </p:sp>
      <p:sp>
        <p:nvSpPr>
          <p:cNvPr id="362" name="Google Shape;362;p21"/>
          <p:cNvSpPr/>
          <p:nvPr/>
        </p:nvSpPr>
        <p:spPr>
          <a:xfrm>
            <a:off x="7589883" y="1673015"/>
            <a:ext cx="336300" cy="336300"/>
          </a:xfrm>
          <a:prstGeom prst="roundRect">
            <a:avLst>
              <a:gd fmla="val 18672" name="adj"/>
            </a:avLst>
          </a:prstGeom>
          <a:solidFill>
            <a:srgbClr val="DFECE9"/>
          </a:solidFill>
          <a:ln cap="flat" cmpd="sng" w="1057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325" lIns="101325" spcFirstLastPara="1" rIns="101325" wrap="square" tIns="101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73"/>
          </a:p>
        </p:txBody>
      </p:sp>
      <p:sp>
        <p:nvSpPr>
          <p:cNvPr id="363" name="Google Shape;363;p21"/>
          <p:cNvSpPr/>
          <p:nvPr/>
        </p:nvSpPr>
        <p:spPr>
          <a:xfrm>
            <a:off x="7645841" y="1700994"/>
            <a:ext cx="2235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18"/>
              <a:buFont typeface="Kanit"/>
              <a:buNone/>
            </a:pPr>
            <a:r>
              <a:rPr b="0" i="0" lang="en-US" sz="1939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1</a:t>
            </a:r>
            <a:endParaRPr b="0" i="0" sz="1939" u="none" cap="none" strike="noStrike"/>
          </a:p>
        </p:txBody>
      </p:sp>
      <p:sp>
        <p:nvSpPr>
          <p:cNvPr id="364" name="Google Shape;364;p21"/>
          <p:cNvSpPr/>
          <p:nvPr/>
        </p:nvSpPr>
        <p:spPr>
          <a:xfrm>
            <a:off x="5145793" y="1724222"/>
            <a:ext cx="18657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441"/>
              <a:buFont typeface="Kanit"/>
              <a:buNone/>
            </a:pPr>
            <a:r>
              <a:rPr b="0" i="0" lang="en-US" sz="1662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Application Launch</a:t>
            </a:r>
            <a:endParaRPr b="0" i="0" sz="1662" u="none" cap="none" strike="noStrike"/>
          </a:p>
        </p:txBody>
      </p:sp>
      <p:sp>
        <p:nvSpPr>
          <p:cNvPr id="365" name="Google Shape;365;p21"/>
          <p:cNvSpPr/>
          <p:nvPr/>
        </p:nvSpPr>
        <p:spPr>
          <a:xfrm>
            <a:off x="171434" y="2046908"/>
            <a:ext cx="68403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164"/>
              <a:buFont typeface="Martel Sans"/>
              <a:buNone/>
            </a:pPr>
            <a:r>
              <a:rPr b="0" i="0" lang="en-US" sz="1385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Deploy DVWA, bWAPP, and Juice Shop containers in controlled local environment</a:t>
            </a:r>
            <a:endParaRPr b="0" i="0" sz="1385" u="none" cap="none" strike="noStrike"/>
          </a:p>
        </p:txBody>
      </p:sp>
      <p:sp>
        <p:nvSpPr>
          <p:cNvPr id="366" name="Google Shape;366;p21"/>
          <p:cNvSpPr/>
          <p:nvPr/>
        </p:nvSpPr>
        <p:spPr>
          <a:xfrm>
            <a:off x="7908740" y="2727781"/>
            <a:ext cx="447600" cy="16800"/>
          </a:xfrm>
          <a:prstGeom prst="roundRect">
            <a:avLst>
              <a:gd fmla="val 371102" name="adj"/>
            </a:avLst>
          </a:prstGeom>
          <a:solidFill>
            <a:srgbClr val="C5D2CF"/>
          </a:solidFill>
          <a:ln>
            <a:noFill/>
          </a:ln>
        </p:spPr>
        <p:txBody>
          <a:bodyPr anchorCtr="0" anchor="ctr" bIns="101325" lIns="101325" spcFirstLastPara="1" rIns="101325" wrap="square" tIns="101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73"/>
          </a:p>
        </p:txBody>
      </p:sp>
      <p:sp>
        <p:nvSpPr>
          <p:cNvPr id="367" name="Google Shape;367;p21"/>
          <p:cNvSpPr/>
          <p:nvPr/>
        </p:nvSpPr>
        <p:spPr>
          <a:xfrm>
            <a:off x="7589883" y="2568352"/>
            <a:ext cx="336300" cy="336300"/>
          </a:xfrm>
          <a:prstGeom prst="roundRect">
            <a:avLst>
              <a:gd fmla="val 18672" name="adj"/>
            </a:avLst>
          </a:prstGeom>
          <a:solidFill>
            <a:srgbClr val="DFECE9"/>
          </a:solidFill>
          <a:ln cap="flat" cmpd="sng" w="1057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325" lIns="101325" spcFirstLastPara="1" rIns="101325" wrap="square" tIns="101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73"/>
          </a:p>
        </p:txBody>
      </p:sp>
      <p:sp>
        <p:nvSpPr>
          <p:cNvPr id="368" name="Google Shape;368;p21"/>
          <p:cNvSpPr/>
          <p:nvPr/>
        </p:nvSpPr>
        <p:spPr>
          <a:xfrm>
            <a:off x="7645841" y="2596331"/>
            <a:ext cx="2235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18"/>
              <a:buFont typeface="Kanit"/>
              <a:buNone/>
            </a:pPr>
            <a:r>
              <a:rPr b="0" i="0" lang="en-US" sz="1939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2</a:t>
            </a:r>
            <a:endParaRPr b="0" i="0" sz="1939" u="none" cap="none" strike="noStrike"/>
          </a:p>
        </p:txBody>
      </p:sp>
      <p:sp>
        <p:nvSpPr>
          <p:cNvPr id="369" name="Google Shape;369;p21"/>
          <p:cNvSpPr/>
          <p:nvPr/>
        </p:nvSpPr>
        <p:spPr>
          <a:xfrm>
            <a:off x="8503957" y="2619559"/>
            <a:ext cx="18657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441"/>
              <a:buFont typeface="Kanit"/>
              <a:buNone/>
            </a:pPr>
            <a:r>
              <a:rPr b="0" i="0" lang="en-US" sz="1662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Scanner Execution</a:t>
            </a:r>
            <a:endParaRPr b="0" i="0" sz="1662" u="none" cap="none" strike="noStrike"/>
          </a:p>
        </p:txBody>
      </p:sp>
      <p:sp>
        <p:nvSpPr>
          <p:cNvPr id="370" name="Google Shape;370;p21"/>
          <p:cNvSpPr/>
          <p:nvPr/>
        </p:nvSpPr>
        <p:spPr>
          <a:xfrm>
            <a:off x="8503957" y="2942245"/>
            <a:ext cx="68403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164"/>
              <a:buFont typeface="Martel Sans"/>
              <a:buNone/>
            </a:pPr>
            <a:r>
              <a:rPr b="0" i="0" lang="en-US" sz="1385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Run WebScanPro reconnaissance and vulnerability detection modules</a:t>
            </a:r>
            <a:endParaRPr b="0" i="0" sz="1385" u="none" cap="none" strike="noStrike"/>
          </a:p>
        </p:txBody>
      </p:sp>
      <p:sp>
        <p:nvSpPr>
          <p:cNvPr id="371" name="Google Shape;371;p21"/>
          <p:cNvSpPr/>
          <p:nvPr/>
        </p:nvSpPr>
        <p:spPr>
          <a:xfrm>
            <a:off x="7159109" y="3499587"/>
            <a:ext cx="447600" cy="16800"/>
          </a:xfrm>
          <a:prstGeom prst="roundRect">
            <a:avLst>
              <a:gd fmla="val 371102" name="adj"/>
            </a:avLst>
          </a:prstGeom>
          <a:solidFill>
            <a:srgbClr val="C5D2CF"/>
          </a:solidFill>
          <a:ln>
            <a:noFill/>
          </a:ln>
        </p:spPr>
        <p:txBody>
          <a:bodyPr anchorCtr="0" anchor="ctr" bIns="101325" lIns="101325" spcFirstLastPara="1" rIns="101325" wrap="square" tIns="101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73"/>
          </a:p>
        </p:txBody>
      </p:sp>
      <p:sp>
        <p:nvSpPr>
          <p:cNvPr id="372" name="Google Shape;372;p21"/>
          <p:cNvSpPr/>
          <p:nvPr/>
        </p:nvSpPr>
        <p:spPr>
          <a:xfrm>
            <a:off x="7589883" y="3340157"/>
            <a:ext cx="336300" cy="336300"/>
          </a:xfrm>
          <a:prstGeom prst="roundRect">
            <a:avLst>
              <a:gd fmla="val 18672" name="adj"/>
            </a:avLst>
          </a:prstGeom>
          <a:solidFill>
            <a:srgbClr val="DFECE9"/>
          </a:solidFill>
          <a:ln cap="flat" cmpd="sng" w="1057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325" lIns="101325" spcFirstLastPara="1" rIns="101325" wrap="square" tIns="101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73"/>
          </a:p>
        </p:txBody>
      </p:sp>
      <p:sp>
        <p:nvSpPr>
          <p:cNvPr id="373" name="Google Shape;373;p21"/>
          <p:cNvSpPr/>
          <p:nvPr/>
        </p:nvSpPr>
        <p:spPr>
          <a:xfrm>
            <a:off x="7645841" y="3368136"/>
            <a:ext cx="2235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18"/>
              <a:buFont typeface="Kanit"/>
              <a:buNone/>
            </a:pPr>
            <a:r>
              <a:rPr b="0" i="0" lang="en-US" sz="1939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3</a:t>
            </a:r>
            <a:endParaRPr b="0" i="0" sz="1939" u="none" cap="none" strike="noStrike"/>
          </a:p>
        </p:txBody>
      </p:sp>
      <p:sp>
        <p:nvSpPr>
          <p:cNvPr id="374" name="Google Shape;374;p21"/>
          <p:cNvSpPr/>
          <p:nvPr/>
        </p:nvSpPr>
        <p:spPr>
          <a:xfrm>
            <a:off x="4101189" y="3391363"/>
            <a:ext cx="29106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441"/>
              <a:buFont typeface="Kanit"/>
              <a:buNone/>
            </a:pPr>
            <a:r>
              <a:rPr b="0" i="0" lang="en-US" sz="1662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Authentication Automation</a:t>
            </a:r>
            <a:endParaRPr b="0" i="0" sz="1662" u="none" cap="none" strike="noStrike"/>
          </a:p>
        </p:txBody>
      </p:sp>
      <p:sp>
        <p:nvSpPr>
          <p:cNvPr id="375" name="Google Shape;375;p21"/>
          <p:cNvSpPr/>
          <p:nvPr/>
        </p:nvSpPr>
        <p:spPr>
          <a:xfrm>
            <a:off x="171434" y="3714050"/>
            <a:ext cx="68403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164"/>
              <a:buFont typeface="Martel Sans"/>
              <a:buNone/>
            </a:pPr>
            <a:r>
              <a:rPr b="0" i="0" lang="en-US" sz="1385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Establish authenticated sessions with token management</a:t>
            </a:r>
            <a:endParaRPr b="0" i="0" sz="1385" u="none" cap="none" strike="noStrike"/>
          </a:p>
        </p:txBody>
      </p:sp>
      <p:sp>
        <p:nvSpPr>
          <p:cNvPr id="376" name="Google Shape;376;p21"/>
          <p:cNvSpPr/>
          <p:nvPr/>
        </p:nvSpPr>
        <p:spPr>
          <a:xfrm>
            <a:off x="7908740" y="4271392"/>
            <a:ext cx="447600" cy="16800"/>
          </a:xfrm>
          <a:prstGeom prst="roundRect">
            <a:avLst>
              <a:gd fmla="val 371102" name="adj"/>
            </a:avLst>
          </a:prstGeom>
          <a:solidFill>
            <a:srgbClr val="C5D2CF"/>
          </a:solidFill>
          <a:ln>
            <a:noFill/>
          </a:ln>
        </p:spPr>
        <p:txBody>
          <a:bodyPr anchorCtr="0" anchor="ctr" bIns="101325" lIns="101325" spcFirstLastPara="1" rIns="101325" wrap="square" tIns="101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73"/>
          </a:p>
        </p:txBody>
      </p:sp>
      <p:sp>
        <p:nvSpPr>
          <p:cNvPr id="377" name="Google Shape;377;p21"/>
          <p:cNvSpPr/>
          <p:nvPr/>
        </p:nvSpPr>
        <p:spPr>
          <a:xfrm>
            <a:off x="7589883" y="4111964"/>
            <a:ext cx="336300" cy="336300"/>
          </a:xfrm>
          <a:prstGeom prst="roundRect">
            <a:avLst>
              <a:gd fmla="val 18672" name="adj"/>
            </a:avLst>
          </a:prstGeom>
          <a:solidFill>
            <a:srgbClr val="DFECE9"/>
          </a:solidFill>
          <a:ln cap="flat" cmpd="sng" w="1057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325" lIns="101325" spcFirstLastPara="1" rIns="101325" wrap="square" tIns="101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73"/>
          </a:p>
        </p:txBody>
      </p:sp>
      <p:sp>
        <p:nvSpPr>
          <p:cNvPr id="378" name="Google Shape;378;p21"/>
          <p:cNvSpPr/>
          <p:nvPr/>
        </p:nvSpPr>
        <p:spPr>
          <a:xfrm>
            <a:off x="7645841" y="4139943"/>
            <a:ext cx="2235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18"/>
              <a:buFont typeface="Kanit"/>
              <a:buNone/>
            </a:pPr>
            <a:r>
              <a:rPr b="0" i="0" lang="en-US" sz="1939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4</a:t>
            </a:r>
            <a:endParaRPr b="0" i="0" sz="1939" u="none" cap="none" strike="noStrike"/>
          </a:p>
        </p:txBody>
      </p:sp>
      <p:sp>
        <p:nvSpPr>
          <p:cNvPr id="379" name="Google Shape;379;p21"/>
          <p:cNvSpPr/>
          <p:nvPr/>
        </p:nvSpPr>
        <p:spPr>
          <a:xfrm>
            <a:off x="8503952" y="4163166"/>
            <a:ext cx="24096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441"/>
              <a:buFont typeface="Kanit"/>
              <a:buNone/>
            </a:pPr>
            <a:r>
              <a:rPr b="0" i="0" lang="en-US" sz="1662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Vulnerability Detection</a:t>
            </a:r>
            <a:endParaRPr b="0" i="0" sz="1662" u="none" cap="none" strike="noStrike"/>
          </a:p>
        </p:txBody>
      </p:sp>
      <p:sp>
        <p:nvSpPr>
          <p:cNvPr id="380" name="Google Shape;380;p21"/>
          <p:cNvSpPr/>
          <p:nvPr/>
        </p:nvSpPr>
        <p:spPr>
          <a:xfrm>
            <a:off x="8503957" y="4485857"/>
            <a:ext cx="68403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164"/>
              <a:buFont typeface="Martel Sans"/>
              <a:buNone/>
            </a:pPr>
            <a:r>
              <a:rPr b="0" i="0" lang="en-US" sz="1385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Execute XSS, SQL injection, authentication, and IDOR testing modules</a:t>
            </a:r>
            <a:endParaRPr b="0" i="0" sz="1385" u="none" cap="none" strike="noStrike"/>
          </a:p>
        </p:txBody>
      </p:sp>
      <p:sp>
        <p:nvSpPr>
          <p:cNvPr id="381" name="Google Shape;381;p21"/>
          <p:cNvSpPr/>
          <p:nvPr/>
        </p:nvSpPr>
        <p:spPr>
          <a:xfrm>
            <a:off x="7159109" y="5043197"/>
            <a:ext cx="447600" cy="16800"/>
          </a:xfrm>
          <a:prstGeom prst="roundRect">
            <a:avLst>
              <a:gd fmla="val 371102" name="adj"/>
            </a:avLst>
          </a:prstGeom>
          <a:solidFill>
            <a:srgbClr val="C5D2CF"/>
          </a:solidFill>
          <a:ln>
            <a:noFill/>
          </a:ln>
        </p:spPr>
        <p:txBody>
          <a:bodyPr anchorCtr="0" anchor="ctr" bIns="101325" lIns="101325" spcFirstLastPara="1" rIns="101325" wrap="square" tIns="101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73"/>
          </a:p>
        </p:txBody>
      </p:sp>
      <p:sp>
        <p:nvSpPr>
          <p:cNvPr id="382" name="Google Shape;382;p21"/>
          <p:cNvSpPr/>
          <p:nvPr/>
        </p:nvSpPr>
        <p:spPr>
          <a:xfrm>
            <a:off x="7589883" y="4883769"/>
            <a:ext cx="336300" cy="336300"/>
          </a:xfrm>
          <a:prstGeom prst="roundRect">
            <a:avLst>
              <a:gd fmla="val 18672" name="adj"/>
            </a:avLst>
          </a:prstGeom>
          <a:solidFill>
            <a:srgbClr val="DFECE9"/>
          </a:solidFill>
          <a:ln cap="flat" cmpd="sng" w="1057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325" lIns="101325" spcFirstLastPara="1" rIns="101325" wrap="square" tIns="101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73"/>
          </a:p>
        </p:txBody>
      </p:sp>
      <p:sp>
        <p:nvSpPr>
          <p:cNvPr id="383" name="Google Shape;383;p21"/>
          <p:cNvSpPr/>
          <p:nvPr/>
        </p:nvSpPr>
        <p:spPr>
          <a:xfrm>
            <a:off x="7645841" y="4911748"/>
            <a:ext cx="2235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18"/>
              <a:buFont typeface="Kanit"/>
              <a:buNone/>
            </a:pPr>
            <a:r>
              <a:rPr b="0" i="0" lang="en-US" sz="1939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5</a:t>
            </a:r>
            <a:endParaRPr b="0" i="0" sz="1939" u="none" cap="none" strike="noStrike"/>
          </a:p>
        </p:txBody>
      </p:sp>
      <p:sp>
        <p:nvSpPr>
          <p:cNvPr id="384" name="Google Shape;384;p21"/>
          <p:cNvSpPr/>
          <p:nvPr/>
        </p:nvSpPr>
        <p:spPr>
          <a:xfrm>
            <a:off x="5145793" y="4934976"/>
            <a:ext cx="18657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441"/>
              <a:buFont typeface="Kanit"/>
              <a:buNone/>
            </a:pPr>
            <a:r>
              <a:rPr b="0" i="0" lang="en-US" sz="1662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AI Analysis</a:t>
            </a:r>
            <a:endParaRPr b="0" i="0" sz="1662" u="none" cap="none" strike="noStrike"/>
          </a:p>
        </p:txBody>
      </p:sp>
      <p:sp>
        <p:nvSpPr>
          <p:cNvPr id="385" name="Google Shape;385;p21"/>
          <p:cNvSpPr/>
          <p:nvPr/>
        </p:nvSpPr>
        <p:spPr>
          <a:xfrm>
            <a:off x="171434" y="5257662"/>
            <a:ext cx="68403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164"/>
              <a:buFont typeface="Martel Sans"/>
              <a:buNone/>
            </a:pPr>
            <a:r>
              <a:rPr b="0" i="0" lang="en-US" sz="1385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Aggregate results and apply machine learning classification</a:t>
            </a:r>
            <a:endParaRPr b="0" i="0" sz="1385" u="none" cap="none" strike="noStrike"/>
          </a:p>
        </p:txBody>
      </p:sp>
      <p:sp>
        <p:nvSpPr>
          <p:cNvPr id="386" name="Google Shape;386;p21"/>
          <p:cNvSpPr/>
          <p:nvPr/>
        </p:nvSpPr>
        <p:spPr>
          <a:xfrm>
            <a:off x="7908740" y="5901784"/>
            <a:ext cx="447600" cy="16800"/>
          </a:xfrm>
          <a:prstGeom prst="roundRect">
            <a:avLst>
              <a:gd fmla="val 371102" name="adj"/>
            </a:avLst>
          </a:prstGeom>
          <a:solidFill>
            <a:srgbClr val="C5D2CF"/>
          </a:solidFill>
          <a:ln>
            <a:noFill/>
          </a:ln>
        </p:spPr>
        <p:txBody>
          <a:bodyPr anchorCtr="0" anchor="ctr" bIns="101325" lIns="101325" spcFirstLastPara="1" rIns="101325" wrap="square" tIns="101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73"/>
          </a:p>
        </p:txBody>
      </p:sp>
      <p:sp>
        <p:nvSpPr>
          <p:cNvPr id="387" name="Google Shape;387;p21"/>
          <p:cNvSpPr/>
          <p:nvPr/>
        </p:nvSpPr>
        <p:spPr>
          <a:xfrm>
            <a:off x="7589883" y="5742355"/>
            <a:ext cx="336300" cy="336300"/>
          </a:xfrm>
          <a:prstGeom prst="roundRect">
            <a:avLst>
              <a:gd fmla="val 18672" name="adj"/>
            </a:avLst>
          </a:prstGeom>
          <a:solidFill>
            <a:srgbClr val="DFECE9"/>
          </a:solidFill>
          <a:ln cap="flat" cmpd="sng" w="1057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325" lIns="101325" spcFirstLastPara="1" rIns="101325" wrap="square" tIns="101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73"/>
          </a:p>
        </p:txBody>
      </p:sp>
      <p:sp>
        <p:nvSpPr>
          <p:cNvPr id="388" name="Google Shape;388;p21"/>
          <p:cNvSpPr/>
          <p:nvPr/>
        </p:nvSpPr>
        <p:spPr>
          <a:xfrm>
            <a:off x="7645841" y="5770334"/>
            <a:ext cx="2235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18"/>
              <a:buFont typeface="Kanit"/>
              <a:buNone/>
            </a:pPr>
            <a:r>
              <a:rPr b="0" i="0" lang="en-US" sz="1939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6</a:t>
            </a:r>
            <a:endParaRPr b="0" i="0" sz="1939" u="none" cap="none" strike="noStrike"/>
          </a:p>
        </p:txBody>
      </p:sp>
      <p:sp>
        <p:nvSpPr>
          <p:cNvPr id="389" name="Google Shape;389;p21"/>
          <p:cNvSpPr/>
          <p:nvPr/>
        </p:nvSpPr>
        <p:spPr>
          <a:xfrm>
            <a:off x="8503957" y="5793562"/>
            <a:ext cx="18657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441"/>
              <a:buFont typeface="Kanit"/>
              <a:buNone/>
            </a:pPr>
            <a:r>
              <a:rPr b="0" i="0" lang="en-US" sz="1662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Report Generation</a:t>
            </a:r>
            <a:endParaRPr b="0" i="0" sz="1662" u="none" cap="none" strike="noStrike"/>
          </a:p>
        </p:txBody>
      </p:sp>
      <p:sp>
        <p:nvSpPr>
          <p:cNvPr id="390" name="Google Shape;390;p21"/>
          <p:cNvSpPr/>
          <p:nvPr/>
        </p:nvSpPr>
        <p:spPr>
          <a:xfrm>
            <a:off x="8503957" y="6116248"/>
            <a:ext cx="68403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164"/>
              <a:buFont typeface="Martel Sans"/>
              <a:buNone/>
            </a:pPr>
            <a:r>
              <a:rPr b="0" i="0" lang="en-US" sz="1385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Produce comprehensive security assessment documentation</a:t>
            </a:r>
            <a:endParaRPr b="0" i="0" sz="1385" u="none" cap="none" strike="noStrike"/>
          </a:p>
        </p:txBody>
      </p:sp>
      <p:sp>
        <p:nvSpPr>
          <p:cNvPr id="391" name="Google Shape;391;p21"/>
          <p:cNvSpPr txBox="1"/>
          <p:nvPr/>
        </p:nvSpPr>
        <p:spPr>
          <a:xfrm>
            <a:off x="12659675" y="7760999"/>
            <a:ext cx="1860300" cy="36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2"/>
          <p:cNvSpPr/>
          <p:nvPr/>
        </p:nvSpPr>
        <p:spPr>
          <a:xfrm>
            <a:off x="529601" y="417425"/>
            <a:ext cx="77622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423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2950"/>
              <a:buFont typeface="Kanit"/>
              <a:buNone/>
            </a:pPr>
            <a:r>
              <a:rPr b="0" i="0" lang="en-US" sz="2950" u="none" cap="none" strike="noStrike">
                <a:solidFill>
                  <a:srgbClr val="272D45"/>
                </a:solidFill>
                <a:latin typeface="Kanit"/>
                <a:ea typeface="Kanit"/>
                <a:cs typeface="Kanit"/>
                <a:sym typeface="Kanit"/>
              </a:rPr>
              <a:t>Project Conclusion &amp; Future Development</a:t>
            </a:r>
            <a:endParaRPr b="0" i="0" sz="2950" u="none" cap="none" strike="noStrike"/>
          </a:p>
        </p:txBody>
      </p:sp>
      <p:sp>
        <p:nvSpPr>
          <p:cNvPr id="398" name="Google Shape;398;p22"/>
          <p:cNvSpPr/>
          <p:nvPr/>
        </p:nvSpPr>
        <p:spPr>
          <a:xfrm>
            <a:off x="529602" y="1268375"/>
            <a:ext cx="37590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1750"/>
              <a:buFont typeface="Kanit"/>
              <a:buNone/>
            </a:pPr>
            <a:r>
              <a:rPr b="0" i="0" lang="en-US" sz="1850" u="none" cap="none" strike="noStrike">
                <a:solidFill>
                  <a:srgbClr val="272D45"/>
                </a:solidFill>
                <a:latin typeface="Kanit"/>
                <a:ea typeface="Kanit"/>
                <a:cs typeface="Kanit"/>
                <a:sym typeface="Kanit"/>
              </a:rPr>
              <a:t>Future Enhancement Roadmap</a:t>
            </a:r>
            <a:endParaRPr b="0" i="0" sz="1850" u="none" cap="none" strike="noStrike"/>
          </a:p>
        </p:txBody>
      </p:sp>
      <p:sp>
        <p:nvSpPr>
          <p:cNvPr id="399" name="Google Shape;399;p22"/>
          <p:cNvSpPr/>
          <p:nvPr/>
        </p:nvSpPr>
        <p:spPr>
          <a:xfrm>
            <a:off x="529590" y="1722120"/>
            <a:ext cx="605195" cy="932140"/>
          </a:xfrm>
          <a:prstGeom prst="roundRect">
            <a:avLst>
              <a:gd fmla="val 360046" name="adj"/>
            </a:avLst>
          </a:prstGeom>
          <a:solidFill>
            <a:srgbClr val="DFECE9"/>
          </a:solidFill>
          <a:ln cap="flat" cmpd="sng" w="952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400" name="Google Shape;400;p22"/>
          <p:cNvSpPr/>
          <p:nvPr/>
        </p:nvSpPr>
        <p:spPr>
          <a:xfrm>
            <a:off x="718661" y="2046327"/>
            <a:ext cx="226933" cy="2836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Kanit"/>
              <a:buNone/>
            </a:pPr>
            <a:r>
              <a:rPr b="0" i="0" lang="en-US" sz="185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1</a:t>
            </a:r>
            <a:endParaRPr b="0" i="0" sz="1850" u="none" cap="none" strike="noStrike"/>
          </a:p>
        </p:txBody>
      </p:sp>
      <p:sp>
        <p:nvSpPr>
          <p:cNvPr id="401" name="Google Shape;401;p22"/>
          <p:cNvSpPr/>
          <p:nvPr/>
        </p:nvSpPr>
        <p:spPr>
          <a:xfrm>
            <a:off x="1285994" y="1873329"/>
            <a:ext cx="1891427" cy="2364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86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450"/>
              <a:buFont typeface="Kanit"/>
              <a:buNone/>
            </a:pPr>
            <a:r>
              <a:rPr b="0" i="0" lang="en-US" sz="155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Expanded Coverage</a:t>
            </a:r>
            <a:endParaRPr b="0" i="0" sz="1550" u="none" cap="none" strike="noStrike"/>
          </a:p>
        </p:txBody>
      </p:sp>
      <p:sp>
        <p:nvSpPr>
          <p:cNvPr id="402" name="Google Shape;402;p22"/>
          <p:cNvSpPr/>
          <p:nvPr/>
        </p:nvSpPr>
        <p:spPr>
          <a:xfrm>
            <a:off x="1285994" y="2260997"/>
            <a:ext cx="6402229" cy="2420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521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150"/>
              <a:buFont typeface="Martel Sans"/>
              <a:buNone/>
            </a:pPr>
            <a:r>
              <a:rPr b="0" i="0" lang="en-US" sz="12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CSRF, SSRF, and Remote Code Execution testing modules</a:t>
            </a:r>
            <a:endParaRPr b="0" i="0" sz="1250" u="none" cap="none" strike="noStrike"/>
          </a:p>
        </p:txBody>
      </p:sp>
      <p:sp>
        <p:nvSpPr>
          <p:cNvPr id="403" name="Google Shape;403;p22"/>
          <p:cNvSpPr/>
          <p:nvPr/>
        </p:nvSpPr>
        <p:spPr>
          <a:xfrm>
            <a:off x="529590" y="2805470"/>
            <a:ext cx="605195" cy="932140"/>
          </a:xfrm>
          <a:prstGeom prst="roundRect">
            <a:avLst>
              <a:gd fmla="val 360046" name="adj"/>
            </a:avLst>
          </a:prstGeom>
          <a:solidFill>
            <a:srgbClr val="DFECE9"/>
          </a:solidFill>
          <a:ln cap="flat" cmpd="sng" w="952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404" name="Google Shape;404;p22"/>
          <p:cNvSpPr/>
          <p:nvPr/>
        </p:nvSpPr>
        <p:spPr>
          <a:xfrm>
            <a:off x="718661" y="3129677"/>
            <a:ext cx="226933" cy="2836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Kanit"/>
              <a:buNone/>
            </a:pPr>
            <a:r>
              <a:rPr b="0" i="0" lang="en-US" sz="185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2</a:t>
            </a:r>
            <a:endParaRPr b="0" i="0" sz="1850" u="none" cap="none" strike="noStrike"/>
          </a:p>
        </p:txBody>
      </p:sp>
      <p:sp>
        <p:nvSpPr>
          <p:cNvPr id="405" name="Google Shape;405;p22"/>
          <p:cNvSpPr/>
          <p:nvPr/>
        </p:nvSpPr>
        <p:spPr>
          <a:xfrm>
            <a:off x="1286002" y="2956675"/>
            <a:ext cx="23958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86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450"/>
              <a:buFont typeface="Kanit"/>
              <a:buNone/>
            </a:pPr>
            <a:r>
              <a:rPr b="0" i="0" lang="en-US" sz="155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Production Integration</a:t>
            </a:r>
            <a:endParaRPr b="0" i="0" sz="1550" u="none" cap="none" strike="noStrike"/>
          </a:p>
        </p:txBody>
      </p:sp>
      <p:sp>
        <p:nvSpPr>
          <p:cNvPr id="406" name="Google Shape;406;p22"/>
          <p:cNvSpPr/>
          <p:nvPr/>
        </p:nvSpPr>
        <p:spPr>
          <a:xfrm>
            <a:off x="1285994" y="3344347"/>
            <a:ext cx="6402229" cy="2420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521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150"/>
              <a:buFont typeface="Martel Sans"/>
              <a:buNone/>
            </a:pPr>
            <a:r>
              <a:rPr b="0" i="0" lang="en-US" sz="12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Real-world system compatibility with enterprise authentication</a:t>
            </a:r>
            <a:endParaRPr b="0" i="0" sz="1250" u="none" cap="none" strike="noStrike"/>
          </a:p>
        </p:txBody>
      </p:sp>
      <p:sp>
        <p:nvSpPr>
          <p:cNvPr id="407" name="Google Shape;407;p22"/>
          <p:cNvSpPr/>
          <p:nvPr/>
        </p:nvSpPr>
        <p:spPr>
          <a:xfrm>
            <a:off x="529590" y="3888819"/>
            <a:ext cx="605195" cy="932140"/>
          </a:xfrm>
          <a:prstGeom prst="roundRect">
            <a:avLst>
              <a:gd fmla="val 360046" name="adj"/>
            </a:avLst>
          </a:prstGeom>
          <a:solidFill>
            <a:srgbClr val="DFECE9"/>
          </a:solidFill>
          <a:ln cap="flat" cmpd="sng" w="952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408" name="Google Shape;408;p22"/>
          <p:cNvSpPr/>
          <p:nvPr/>
        </p:nvSpPr>
        <p:spPr>
          <a:xfrm>
            <a:off x="718661" y="4213027"/>
            <a:ext cx="226933" cy="2836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Kanit"/>
              <a:buNone/>
            </a:pPr>
            <a:r>
              <a:rPr b="0" i="0" lang="en-US" sz="185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3</a:t>
            </a:r>
            <a:endParaRPr b="0" i="0" sz="1850" u="none" cap="none" strike="noStrike"/>
          </a:p>
        </p:txBody>
      </p:sp>
      <p:sp>
        <p:nvSpPr>
          <p:cNvPr id="409" name="Google Shape;409;p22"/>
          <p:cNvSpPr/>
          <p:nvPr/>
        </p:nvSpPr>
        <p:spPr>
          <a:xfrm>
            <a:off x="1285994" y="4040029"/>
            <a:ext cx="1891427" cy="2364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86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450"/>
              <a:buFont typeface="Kanit"/>
              <a:buNone/>
            </a:pPr>
            <a:r>
              <a:rPr b="0" i="0" lang="en-US" sz="155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Advanced ML</a:t>
            </a:r>
            <a:endParaRPr b="0" i="0" sz="1550" u="none" cap="none" strike="noStrike"/>
          </a:p>
        </p:txBody>
      </p:sp>
      <p:sp>
        <p:nvSpPr>
          <p:cNvPr id="410" name="Google Shape;410;p22"/>
          <p:cNvSpPr/>
          <p:nvPr/>
        </p:nvSpPr>
        <p:spPr>
          <a:xfrm>
            <a:off x="1285994" y="4427696"/>
            <a:ext cx="6402229" cy="2420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521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150"/>
              <a:buFont typeface="Martel Sans"/>
              <a:buNone/>
            </a:pPr>
            <a:r>
              <a:rPr b="0" i="0" lang="en-US" sz="12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Deep learning models for improved detection accuracy</a:t>
            </a:r>
            <a:endParaRPr b="0" i="0" sz="1250" u="none" cap="none" strike="noStrike"/>
          </a:p>
        </p:txBody>
      </p:sp>
      <p:sp>
        <p:nvSpPr>
          <p:cNvPr id="411" name="Google Shape;411;p22"/>
          <p:cNvSpPr/>
          <p:nvPr/>
        </p:nvSpPr>
        <p:spPr>
          <a:xfrm>
            <a:off x="529590" y="4972169"/>
            <a:ext cx="605195" cy="932140"/>
          </a:xfrm>
          <a:prstGeom prst="roundRect">
            <a:avLst>
              <a:gd fmla="val 360046" name="adj"/>
            </a:avLst>
          </a:prstGeom>
          <a:solidFill>
            <a:srgbClr val="DFECE9"/>
          </a:solidFill>
          <a:ln cap="flat" cmpd="sng" w="952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412" name="Google Shape;412;p22"/>
          <p:cNvSpPr/>
          <p:nvPr/>
        </p:nvSpPr>
        <p:spPr>
          <a:xfrm>
            <a:off x="718661" y="5296376"/>
            <a:ext cx="226933" cy="2836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Kanit"/>
              <a:buNone/>
            </a:pPr>
            <a:r>
              <a:rPr b="0" i="0" lang="en-US" sz="185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4</a:t>
            </a:r>
            <a:endParaRPr b="0" i="0" sz="1850" u="none" cap="none" strike="noStrike"/>
          </a:p>
        </p:txBody>
      </p:sp>
      <p:sp>
        <p:nvSpPr>
          <p:cNvPr id="413" name="Google Shape;413;p22"/>
          <p:cNvSpPr/>
          <p:nvPr/>
        </p:nvSpPr>
        <p:spPr>
          <a:xfrm>
            <a:off x="1285994" y="5123378"/>
            <a:ext cx="1891427" cy="2364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86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450"/>
              <a:buFont typeface="Kanit"/>
              <a:buNone/>
            </a:pPr>
            <a:r>
              <a:rPr b="0" i="0" lang="en-US" sz="155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Dashboard Interface</a:t>
            </a:r>
            <a:endParaRPr b="0" i="0" sz="1550" u="none" cap="none" strike="noStrike"/>
          </a:p>
        </p:txBody>
      </p:sp>
      <p:sp>
        <p:nvSpPr>
          <p:cNvPr id="414" name="Google Shape;414;p22"/>
          <p:cNvSpPr/>
          <p:nvPr/>
        </p:nvSpPr>
        <p:spPr>
          <a:xfrm>
            <a:off x="1285994" y="5511046"/>
            <a:ext cx="6402229" cy="2420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521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150"/>
              <a:buFont typeface="Martel Sans"/>
              <a:buNone/>
            </a:pPr>
            <a:r>
              <a:rPr b="0" i="0" lang="en-US" sz="12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Interactive visualisation and reporting platform</a:t>
            </a:r>
            <a:endParaRPr b="0" i="0" sz="1250" u="none" cap="none" strike="noStrike"/>
          </a:p>
        </p:txBody>
      </p:sp>
      <p:sp>
        <p:nvSpPr>
          <p:cNvPr id="415" name="Google Shape;415;p22"/>
          <p:cNvSpPr/>
          <p:nvPr/>
        </p:nvSpPr>
        <p:spPr>
          <a:xfrm>
            <a:off x="529590" y="6055519"/>
            <a:ext cx="605195" cy="932140"/>
          </a:xfrm>
          <a:prstGeom prst="roundRect">
            <a:avLst>
              <a:gd fmla="val 360046" name="adj"/>
            </a:avLst>
          </a:prstGeom>
          <a:solidFill>
            <a:srgbClr val="DFECE9"/>
          </a:solidFill>
          <a:ln cap="flat" cmpd="sng" w="952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416" name="Google Shape;416;p22"/>
          <p:cNvSpPr/>
          <p:nvPr/>
        </p:nvSpPr>
        <p:spPr>
          <a:xfrm>
            <a:off x="718661" y="6379726"/>
            <a:ext cx="226933" cy="2836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Kanit"/>
              <a:buNone/>
            </a:pPr>
            <a:r>
              <a:rPr b="0" i="0" lang="en-US" sz="185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5</a:t>
            </a:r>
            <a:endParaRPr b="0" i="0" sz="1850" u="none" cap="none" strike="noStrike"/>
          </a:p>
        </p:txBody>
      </p:sp>
      <p:sp>
        <p:nvSpPr>
          <p:cNvPr id="417" name="Google Shape;417;p22"/>
          <p:cNvSpPr/>
          <p:nvPr/>
        </p:nvSpPr>
        <p:spPr>
          <a:xfrm>
            <a:off x="1286003" y="6206725"/>
            <a:ext cx="28611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86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450"/>
              <a:buFont typeface="Kanit"/>
              <a:buNone/>
            </a:pPr>
            <a:r>
              <a:rPr b="0" i="0" lang="en-US" sz="155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Continuous Monitoring</a:t>
            </a:r>
            <a:endParaRPr b="0" i="0" sz="1550" u="none" cap="none" strike="noStrike"/>
          </a:p>
        </p:txBody>
      </p:sp>
      <p:sp>
        <p:nvSpPr>
          <p:cNvPr id="418" name="Google Shape;418;p22"/>
          <p:cNvSpPr/>
          <p:nvPr/>
        </p:nvSpPr>
        <p:spPr>
          <a:xfrm>
            <a:off x="1285994" y="6594396"/>
            <a:ext cx="6402229" cy="2420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521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150"/>
              <a:buFont typeface="Martel Sans"/>
              <a:buNone/>
            </a:pPr>
            <a:r>
              <a:rPr b="0" i="0" lang="en-US" sz="12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Integration with CI/CD pipelines and DevSecOps workflows</a:t>
            </a:r>
            <a:endParaRPr b="0" i="0" sz="1250" u="none" cap="none" strike="noStrike"/>
          </a:p>
        </p:txBody>
      </p:sp>
      <p:sp>
        <p:nvSpPr>
          <p:cNvPr id="419" name="Google Shape;419;p22"/>
          <p:cNvSpPr/>
          <p:nvPr/>
        </p:nvSpPr>
        <p:spPr>
          <a:xfrm>
            <a:off x="8064937" y="1268373"/>
            <a:ext cx="2269688" cy="2836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1750"/>
              <a:buFont typeface="Kanit"/>
              <a:buNone/>
            </a:pPr>
            <a:r>
              <a:rPr b="0" i="0" lang="en-US" sz="1850" u="none" cap="none" strike="noStrike">
                <a:solidFill>
                  <a:srgbClr val="272D45"/>
                </a:solidFill>
                <a:latin typeface="Kanit"/>
                <a:ea typeface="Kanit"/>
                <a:cs typeface="Kanit"/>
                <a:sym typeface="Kanit"/>
              </a:rPr>
              <a:t>Core Achievements</a:t>
            </a:r>
            <a:endParaRPr b="0" i="0" sz="1850" u="none" cap="none" strike="noStrike"/>
          </a:p>
        </p:txBody>
      </p:sp>
      <p:sp>
        <p:nvSpPr>
          <p:cNvPr id="420" name="Google Shape;420;p22"/>
          <p:cNvSpPr/>
          <p:nvPr/>
        </p:nvSpPr>
        <p:spPr>
          <a:xfrm>
            <a:off x="8064937" y="1802428"/>
            <a:ext cx="75605" cy="75605"/>
          </a:xfrm>
          <a:prstGeom prst="roundRect">
            <a:avLst>
              <a:gd fmla="val 604722" name="adj"/>
            </a:avLst>
          </a:prstGeom>
          <a:solidFill>
            <a:srgbClr val="4370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421" name="Google Shape;421;p22"/>
          <p:cNvSpPr/>
          <p:nvPr/>
        </p:nvSpPr>
        <p:spPr>
          <a:xfrm>
            <a:off x="8291750" y="1722125"/>
            <a:ext cx="25077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86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450"/>
              <a:buFont typeface="Kanit"/>
              <a:buNone/>
            </a:pPr>
            <a:r>
              <a:rPr b="0" i="0" lang="en-US" sz="155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End-to-End Automation</a:t>
            </a:r>
            <a:endParaRPr b="0" i="0" sz="1550" u="none" cap="none" strike="noStrike"/>
          </a:p>
        </p:txBody>
      </p:sp>
      <p:sp>
        <p:nvSpPr>
          <p:cNvPr id="422" name="Google Shape;422;p22"/>
          <p:cNvSpPr/>
          <p:nvPr/>
        </p:nvSpPr>
        <p:spPr>
          <a:xfrm>
            <a:off x="8291751" y="2109787"/>
            <a:ext cx="5816560" cy="2420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521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150"/>
              <a:buFont typeface="Martel Sans"/>
              <a:buNone/>
            </a:pPr>
            <a:r>
              <a:rPr b="0" i="0" lang="en-US" sz="12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Comprehensive vulnerability detection from reconnaissance through reporting</a:t>
            </a:r>
            <a:endParaRPr b="0" i="0" sz="1250" u="none" cap="none" strike="noStrike"/>
          </a:p>
        </p:txBody>
      </p:sp>
      <p:sp>
        <p:nvSpPr>
          <p:cNvPr id="423" name="Google Shape;423;p22"/>
          <p:cNvSpPr/>
          <p:nvPr/>
        </p:nvSpPr>
        <p:spPr>
          <a:xfrm>
            <a:off x="8064937" y="2896432"/>
            <a:ext cx="75600" cy="75600"/>
          </a:xfrm>
          <a:prstGeom prst="roundRect">
            <a:avLst>
              <a:gd fmla="val 604722" name="adj"/>
            </a:avLst>
          </a:prstGeom>
          <a:solidFill>
            <a:srgbClr val="4370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424" name="Google Shape;424;p22"/>
          <p:cNvSpPr/>
          <p:nvPr/>
        </p:nvSpPr>
        <p:spPr>
          <a:xfrm>
            <a:off x="8291751" y="2816124"/>
            <a:ext cx="18915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86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450"/>
              <a:buFont typeface="Kanit"/>
              <a:buNone/>
            </a:pPr>
            <a:r>
              <a:rPr b="0" i="0" lang="en-US" sz="155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AI Integration</a:t>
            </a:r>
            <a:endParaRPr b="0" i="0" sz="1550" u="none" cap="none" strike="noStrike"/>
          </a:p>
        </p:txBody>
      </p:sp>
      <p:sp>
        <p:nvSpPr>
          <p:cNvPr id="425" name="Google Shape;425;p22"/>
          <p:cNvSpPr/>
          <p:nvPr/>
        </p:nvSpPr>
        <p:spPr>
          <a:xfrm>
            <a:off x="8291751" y="3203792"/>
            <a:ext cx="58167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521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150"/>
              <a:buFont typeface="Martel Sans"/>
              <a:buNone/>
            </a:pPr>
            <a:r>
              <a:rPr b="0" i="0" lang="en-US" sz="12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Machine learning-powered payload generation and severity classification</a:t>
            </a:r>
            <a:endParaRPr b="0" i="0" sz="1250" u="none" cap="none" strike="noStrike"/>
          </a:p>
        </p:txBody>
      </p:sp>
      <p:sp>
        <p:nvSpPr>
          <p:cNvPr id="426" name="Google Shape;426;p22"/>
          <p:cNvSpPr/>
          <p:nvPr/>
        </p:nvSpPr>
        <p:spPr>
          <a:xfrm>
            <a:off x="8064937" y="3666946"/>
            <a:ext cx="75605" cy="75605"/>
          </a:xfrm>
          <a:prstGeom prst="roundRect">
            <a:avLst>
              <a:gd fmla="val 604722" name="adj"/>
            </a:avLst>
          </a:prstGeom>
          <a:solidFill>
            <a:srgbClr val="4370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427" name="Google Shape;427;p22"/>
          <p:cNvSpPr/>
          <p:nvPr/>
        </p:nvSpPr>
        <p:spPr>
          <a:xfrm>
            <a:off x="8291750" y="3586650"/>
            <a:ext cx="23958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86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450"/>
              <a:buFont typeface="Kanit"/>
              <a:buNone/>
            </a:pPr>
            <a:r>
              <a:rPr b="0" i="0" lang="en-US" sz="155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Actionable Intelligence</a:t>
            </a:r>
            <a:endParaRPr b="0" i="0" sz="1550" u="none" cap="none" strike="noStrike"/>
          </a:p>
        </p:txBody>
      </p:sp>
      <p:sp>
        <p:nvSpPr>
          <p:cNvPr id="428" name="Google Shape;428;p22"/>
          <p:cNvSpPr/>
          <p:nvPr/>
        </p:nvSpPr>
        <p:spPr>
          <a:xfrm>
            <a:off x="8291751" y="3974306"/>
            <a:ext cx="5816560" cy="2420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521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150"/>
              <a:buFont typeface="Martel Sans"/>
              <a:buNone/>
            </a:pPr>
            <a:r>
              <a:rPr b="0" i="0" lang="en-US" sz="12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OWASP-aligned recommendations with prioritised remediation guidance</a:t>
            </a:r>
            <a:endParaRPr b="0" i="0" sz="1250" u="none" cap="none" strike="noStrike"/>
          </a:p>
        </p:txBody>
      </p:sp>
      <p:sp>
        <p:nvSpPr>
          <p:cNvPr id="429" name="Google Shape;429;p22"/>
          <p:cNvSpPr/>
          <p:nvPr/>
        </p:nvSpPr>
        <p:spPr>
          <a:xfrm>
            <a:off x="8064937" y="4599206"/>
            <a:ext cx="75605" cy="75605"/>
          </a:xfrm>
          <a:prstGeom prst="roundRect">
            <a:avLst>
              <a:gd fmla="val 604722" name="adj"/>
            </a:avLst>
          </a:prstGeom>
          <a:solidFill>
            <a:srgbClr val="4370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430" name="Google Shape;430;p22"/>
          <p:cNvSpPr/>
          <p:nvPr/>
        </p:nvSpPr>
        <p:spPr>
          <a:xfrm>
            <a:off x="8291751" y="4518898"/>
            <a:ext cx="1891427" cy="2364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86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450"/>
              <a:buFont typeface="Kanit"/>
              <a:buNone/>
            </a:pPr>
            <a:r>
              <a:rPr b="0" i="0" lang="en-US" sz="1550" u="none" cap="none" strike="noStrike">
                <a:solidFill>
                  <a:srgbClr val="2C3249"/>
                </a:solidFill>
                <a:latin typeface="Kanit"/>
                <a:ea typeface="Kanit"/>
                <a:cs typeface="Kanit"/>
                <a:sym typeface="Kanit"/>
              </a:rPr>
              <a:t>Industry Bridging</a:t>
            </a:r>
            <a:endParaRPr b="0" i="0" sz="1550" u="none" cap="none" strike="noStrike"/>
          </a:p>
        </p:txBody>
      </p:sp>
      <p:sp>
        <p:nvSpPr>
          <p:cNvPr id="431" name="Google Shape;431;p22"/>
          <p:cNvSpPr/>
          <p:nvPr/>
        </p:nvSpPr>
        <p:spPr>
          <a:xfrm>
            <a:off x="8291751" y="4906566"/>
            <a:ext cx="5816560" cy="2420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521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150"/>
              <a:buFont typeface="Martel Sans"/>
              <a:buNone/>
            </a:pPr>
            <a:r>
              <a:rPr b="0" i="0" lang="en-US" sz="12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Combining traditional scanning techniques with intelligent analysis capabilities</a:t>
            </a:r>
            <a:endParaRPr b="0" i="0" sz="1250" u="none" cap="none" strike="noStrike"/>
          </a:p>
        </p:txBody>
      </p:sp>
      <p:sp>
        <p:nvSpPr>
          <p:cNvPr id="432" name="Google Shape;432;p22"/>
          <p:cNvSpPr/>
          <p:nvPr/>
        </p:nvSpPr>
        <p:spPr>
          <a:xfrm>
            <a:off x="529590" y="7327940"/>
            <a:ext cx="13571220" cy="4841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521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150"/>
              <a:buFont typeface="Martel Sans"/>
              <a:buNone/>
            </a:pPr>
            <a:r>
              <a:rPr b="1" i="0" lang="en-US" sz="12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Project Impact:</a:t>
            </a:r>
            <a:r>
              <a:rPr b="0" i="0" lang="en-US" sz="12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 WebScanPro successfully demonstrates how artificial intelligence can enhance traditional security testing methodologies, providing both technical depth and strategic insight for modern application security assessment.</a:t>
            </a:r>
            <a:endParaRPr b="0" i="0" sz="1250" u="none" cap="none" strike="noStrike"/>
          </a:p>
        </p:txBody>
      </p:sp>
      <p:sp>
        <p:nvSpPr>
          <p:cNvPr id="433" name="Google Shape;433;p22"/>
          <p:cNvSpPr txBox="1"/>
          <p:nvPr/>
        </p:nvSpPr>
        <p:spPr>
          <a:xfrm>
            <a:off x="12659675" y="7760999"/>
            <a:ext cx="1860300" cy="36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